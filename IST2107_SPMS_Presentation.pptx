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457200"/>
            <a:ext cx="1645920" cy="1645920"/>
          </a:xfrm>
          <a:prstGeom prst="ellipse">
            <a:avLst/>
          </a:prstGeom>
          <a:solidFill>
            <a:srgbClr val="001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4572000"/>
            <a:ext cx="1280160" cy="1280160"/>
          </a:xfrm>
          <a:prstGeom prst="ellipse">
            <a:avLst/>
          </a:prstGeom>
          <a:solidFill>
            <a:srgbClr val="231D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15600" y="457200"/>
            <a:ext cx="822960" cy="822960"/>
          </a:xfrm>
          <a:prstGeom prst="ellipse">
            <a:avLst/>
          </a:prstGeom>
          <a:solidFill>
            <a:srgbClr val="17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BCB4"/>
                </a:solidFill>
                <a:latin typeface="Calibri"/>
              </a:defRPr>
            </a:pPr>
            <a:r>
              <a:t>IST 2107  |  Case Study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2331720"/>
            <a:ext cx="2103120" cy="38100"/>
          </a:xfrm>
          <a:prstGeom prst="rect">
            <a:avLst/>
          </a:prstGeom>
          <a:solidFill>
            <a:srgbClr val="00B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5F7FA"/>
                </a:solidFill>
                <a:latin typeface="Calibri"/>
              </a:defRPr>
            </a:pPr>
            <a:r>
              <a:t>Student Project</a:t>
            </a:r>
            <a:br/>
            <a:r>
              <a:t>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02336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8D2E1"/>
                </a:solidFill>
                <a:latin typeface="Calibri"/>
              </a:defRPr>
            </a:pPr>
            <a:r>
              <a:t>Makerere University  |  College of Computing &amp; Information Sciences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669280"/>
            <a:ext cx="12191695" cy="1188720"/>
          </a:xfrm>
          <a:prstGeom prst="rect">
            <a:avLst/>
          </a:prstGeom>
          <a:solidFill>
            <a:srgbClr val="12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20" y="5806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BCB4"/>
                </a:solidFill>
                <a:latin typeface="Calibri"/>
              </a:defRPr>
            </a:pPr>
            <a:r>
              <a:t>UGX 450M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6172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C9BB4"/>
                </a:solidFill>
                <a:latin typeface="Calibri"/>
              </a:defRPr>
            </a:pPr>
            <a:r>
              <a:t>Budget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5806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BCB4"/>
                </a:solidFill>
                <a:latin typeface="Calibri"/>
              </a:defRPr>
            </a:pPr>
            <a:r>
              <a:t>10 Months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6172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C9BB4"/>
                </a:solidFill>
                <a:latin typeface="Calibri"/>
              </a:defRPr>
            </a:pPr>
            <a:r>
              <a:t>Duration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59" y="5806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BCB4"/>
                </a:solidFill>
                <a:latin typeface="Calibri"/>
              </a:defRPr>
            </a:pPr>
            <a:r>
              <a:t>9 Modules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59" y="6172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C9BB4"/>
                </a:solidFill>
                <a:latin typeface="Calibri"/>
              </a:defRPr>
            </a:pPr>
            <a:r>
              <a:t>Features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5806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BCB4"/>
                </a:solidFill>
                <a:latin typeface="Calibri"/>
              </a:defRPr>
            </a:pPr>
            <a:r>
              <a:t>5 Presenters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6172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C9BB4"/>
                </a:solidFill>
                <a:latin typeface="Calibri"/>
              </a:defRPr>
            </a:pPr>
            <a:r>
              <a:t>Team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C9BB4"/>
                </a:solidFill>
                <a:latin typeface="Calibri"/>
              </a:defRPr>
            </a:pPr>
            <a:r>
              <a:t>1/13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5F7FA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371600" cy="38100"/>
          </a:xfrm>
          <a:prstGeom prst="rect">
            <a:avLst/>
          </a:prstGeom>
          <a:solidFill>
            <a:srgbClr val="00B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5394960" cy="868680"/>
          </a:xfrm>
          <a:prstGeom prst="roundRect">
            <a:avLst/>
          </a:prstGeom>
          <a:solidFill>
            <a:srgbClr val="12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7276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CB4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5544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7FA"/>
                </a:solidFill>
                <a:latin typeface="Calibri"/>
              </a:defRPr>
            </a:pPr>
            <a:r>
              <a:t>Project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0195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9BB4"/>
                </a:solidFill>
                <a:latin typeface="Calibri"/>
              </a:defRPr>
            </a:pPr>
            <a:r>
              <a:t>Understanding the SPMS initiative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59" y="1463040"/>
            <a:ext cx="5394960" cy="868680"/>
          </a:xfrm>
          <a:prstGeom prst="roundRect">
            <a:avLst/>
          </a:prstGeom>
          <a:solidFill>
            <a:srgbClr val="12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39" y="157276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CB4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19" y="15544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7FA"/>
                </a:solidFill>
                <a:latin typeface="Calibri"/>
              </a:defRPr>
            </a:pPr>
            <a:r>
              <a:t>Stakeholder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19" y="190195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9BB4"/>
                </a:solidFill>
                <a:latin typeface="Calibri"/>
              </a:defRPr>
            </a:pPr>
            <a:r>
              <a:t>Key interests and engagement strategies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468880"/>
            <a:ext cx="5394960" cy="868680"/>
          </a:xfrm>
          <a:prstGeom prst="roundRect">
            <a:avLst/>
          </a:prstGeom>
          <a:solidFill>
            <a:srgbClr val="12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57860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CB4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5603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7FA"/>
                </a:solidFill>
                <a:latin typeface="Calibri"/>
              </a:defRPr>
            </a:pPr>
            <a:r>
              <a:t>Project Charter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90779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9BB4"/>
                </a:solidFill>
                <a:latin typeface="Calibri"/>
              </a:defRPr>
            </a:pPr>
            <a:r>
              <a:t>Objectives, scope, and constraints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59" y="2468880"/>
            <a:ext cx="5394960" cy="868680"/>
          </a:xfrm>
          <a:prstGeom prst="roundRect">
            <a:avLst/>
          </a:prstGeom>
          <a:solidFill>
            <a:srgbClr val="12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39" y="257860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CB4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19" y="25603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7FA"/>
                </a:solidFill>
                <a:latin typeface="Calibri"/>
              </a:defRPr>
            </a:pPr>
            <a:r>
              <a:t>Work Breakdown Structure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19" y="290779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9BB4"/>
                </a:solidFill>
                <a:latin typeface="Calibri"/>
              </a:defRPr>
            </a:pPr>
            <a:r>
              <a:t>Three-level decomposition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474720"/>
            <a:ext cx="5394960" cy="868680"/>
          </a:xfrm>
          <a:prstGeom prst="roundRect">
            <a:avLst/>
          </a:prstGeom>
          <a:solidFill>
            <a:srgbClr val="12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58444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CB4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35661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7FA"/>
                </a:solidFill>
                <a:latin typeface="Calibri"/>
              </a:defRPr>
            </a:pPr>
            <a:r>
              <a:t>Project Schedule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391363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9BB4"/>
                </a:solidFill>
                <a:latin typeface="Calibri"/>
              </a:defRPr>
            </a:pPr>
            <a:r>
              <a:t>Gantt chart and milestones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59" y="3474720"/>
            <a:ext cx="5394960" cy="868680"/>
          </a:xfrm>
          <a:prstGeom prst="roundRect">
            <a:avLst/>
          </a:prstGeom>
          <a:solidFill>
            <a:srgbClr val="12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39" y="358444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CB4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19" y="35661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7FA"/>
                </a:solidFill>
                <a:latin typeface="Calibri"/>
              </a:defRPr>
            </a:pPr>
            <a:r>
              <a:t>Risk Management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19" y="391363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9BB4"/>
                </a:solidFill>
                <a:latin typeface="Calibri"/>
              </a:defRPr>
            </a:pPr>
            <a:r>
              <a:t>Risk register and mitigation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480560"/>
            <a:ext cx="5394960" cy="868680"/>
          </a:xfrm>
          <a:prstGeom prst="roundRect">
            <a:avLst/>
          </a:prstGeom>
          <a:solidFill>
            <a:srgbClr val="12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59028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CB4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45720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7FA"/>
                </a:solidFill>
                <a:latin typeface="Calibri"/>
              </a:defRPr>
            </a:pPr>
            <a:r>
              <a:t>Communication Plan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491947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9BB4"/>
                </a:solidFill>
                <a:latin typeface="Calibri"/>
              </a:defRPr>
            </a:pPr>
            <a:r>
              <a:t>Stakeholder engagement framework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9359" y="4480560"/>
            <a:ext cx="5394960" cy="868680"/>
          </a:xfrm>
          <a:prstGeom prst="roundRect">
            <a:avLst/>
          </a:prstGeom>
          <a:solidFill>
            <a:srgbClr val="12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39" y="459028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CB4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19" y="45720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7FA"/>
                </a:solidFill>
                <a:latin typeface="Calibri"/>
              </a:defRPr>
            </a:pPr>
            <a:r>
              <a:t>Methodology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19" y="491947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9BB4"/>
                </a:solidFill>
                <a:latin typeface="Calibri"/>
              </a:defRPr>
            </a:pPr>
            <a:r>
              <a:t>Hybrid approach justification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5486400"/>
            <a:ext cx="5394960" cy="868680"/>
          </a:xfrm>
          <a:prstGeom prst="roundRect">
            <a:avLst/>
          </a:prstGeom>
          <a:solidFill>
            <a:srgbClr val="12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559612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CB4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71600" y="55778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7FA"/>
                </a:solidFill>
                <a:latin typeface="Calibri"/>
              </a:defRPr>
            </a:pPr>
            <a:r>
              <a:t>Success Factors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71600" y="592531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9BB4"/>
                </a:solidFill>
                <a:latin typeface="Calibri"/>
              </a:defRPr>
            </a:pPr>
            <a:r>
              <a:t>Critical success criteria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09359" y="5486400"/>
            <a:ext cx="5394960" cy="868680"/>
          </a:xfrm>
          <a:prstGeom prst="roundRect">
            <a:avLst/>
          </a:prstGeom>
          <a:solidFill>
            <a:srgbClr val="12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92239" y="559612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CB4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32319" y="55778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7FA"/>
                </a:solidFill>
                <a:latin typeface="Calibri"/>
              </a:defRPr>
            </a:pPr>
            <a:r>
              <a:t>Reflection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32319" y="592531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9BB4"/>
                </a:solidFill>
                <a:latin typeface="Calibri"/>
              </a:defRPr>
            </a:pPr>
            <a:r>
              <a:t>Delay response and lessons learned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C9BB4"/>
                </a:solidFill>
                <a:latin typeface="Calibri"/>
              </a:defRPr>
            </a:pPr>
            <a:r>
              <a:t>2/13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2011680" cy="292608"/>
          </a:xfrm>
          <a:prstGeom prst="roundRect">
            <a:avLst/>
          </a:prstGeom>
          <a:solidFill>
            <a:srgbClr val="009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5F7FA"/>
                </a:solidFill>
                <a:latin typeface="Calibri"/>
              </a:defRPr>
            </a:pPr>
            <a:r>
              <a:t>SECTION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5F7FA"/>
                </a:solidFill>
                <a:latin typeface="Calibri"/>
              </a:defRPr>
            </a:pPr>
            <a:r>
              <a:t>Project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1828800" cy="38100"/>
          </a:xfrm>
          <a:prstGeom prst="rect">
            <a:avLst/>
          </a:prstGeom>
          <a:solidFill>
            <a:srgbClr val="00B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6858000" cy="1828800"/>
          </a:xfrm>
          <a:prstGeom prst="roundRect">
            <a:avLst/>
          </a:prstGeom>
          <a:solidFill>
            <a:srgbClr val="12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5D5D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23160"/>
            <a:ext cx="6400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39"/>
              </a:spcAft>
              <a:defRPr sz="1200" b="0">
                <a:solidFill>
                  <a:srgbClr val="C8D2E1"/>
                </a:solidFill>
                <a:latin typeface="Calibri"/>
              </a:defRPr>
            </a:pPr>
            <a:r>
              <a:t>&gt; Students miss important deadlines</a:t>
            </a:r>
          </a:p>
          <a:p>
            <a:pPr algn="l">
              <a:spcAft>
                <a:spcPts val="239"/>
              </a:spcAft>
              <a:defRPr sz="1200" b="0">
                <a:solidFill>
                  <a:srgbClr val="C8D2E1"/>
                </a:solidFill>
                <a:latin typeface="Calibri"/>
              </a:defRPr>
            </a:pPr>
            <a:r>
              <a:t>&gt; Supervisors exceed recommended workload</a:t>
            </a:r>
          </a:p>
          <a:p>
            <a:pPr algn="l">
              <a:spcAft>
                <a:spcPts val="239"/>
              </a:spcAft>
              <a:defRPr sz="1200" b="0">
                <a:solidFill>
                  <a:srgbClr val="C8D2E1"/>
                </a:solidFill>
                <a:latin typeface="Calibri"/>
              </a:defRPr>
            </a:pPr>
            <a:r>
              <a:t>&gt; Progress reports are difficult to monitor</a:t>
            </a:r>
          </a:p>
          <a:p>
            <a:pPr algn="l">
              <a:spcAft>
                <a:spcPts val="239"/>
              </a:spcAft>
              <a:defRPr sz="1200" b="0">
                <a:solidFill>
                  <a:srgbClr val="C8D2E1"/>
                </a:solidFill>
                <a:latin typeface="Calibri"/>
              </a:defRPr>
            </a:pPr>
            <a:r>
              <a:t>&gt; Communication is inconsistent</a:t>
            </a:r>
          </a:p>
          <a:p>
            <a:pPr algn="l">
              <a:spcAft>
                <a:spcPts val="239"/>
              </a:spcAft>
              <a:defRPr sz="1200" b="0">
                <a:solidFill>
                  <a:srgbClr val="C8D2E1"/>
                </a:solidFill>
                <a:latin typeface="Calibri"/>
              </a:defRPr>
            </a:pPr>
            <a:r>
              <a:t>&gt; Final submissions are delayed</a:t>
            </a:r>
          </a:p>
          <a:p>
            <a:pPr algn="l">
              <a:spcAft>
                <a:spcPts val="239"/>
              </a:spcAft>
              <a:defRPr sz="1200" b="0">
                <a:solidFill>
                  <a:srgbClr val="C8D2E1"/>
                </a:solidFill>
                <a:latin typeface="Calibri"/>
              </a:defRPr>
            </a:pPr>
            <a:r>
              <a:t>&gt; Records are difficult to retrieve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1920240"/>
            <a:ext cx="4114800" cy="1828800"/>
          </a:xfrm>
          <a:prstGeom prst="roundRect">
            <a:avLst/>
          </a:prstGeom>
          <a:solidFill>
            <a:srgbClr val="12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79" y="20116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CB4"/>
                </a:solidFill>
                <a:latin typeface="Calibri"/>
              </a:defRPr>
            </a:pPr>
            <a:r>
              <a:t>Why a Project?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2423160"/>
            <a:ext cx="3657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39"/>
              </a:spcAft>
              <a:defRPr sz="1200" b="0">
                <a:solidFill>
                  <a:srgbClr val="C8D2E1"/>
                </a:solidFill>
                <a:latin typeface="Calibri"/>
              </a:defRPr>
            </a:pPr>
            <a:r>
              <a:t>&gt; Temporary (10 months, fixed end)</a:t>
            </a:r>
          </a:p>
          <a:p>
            <a:pPr algn="l">
              <a:spcAft>
                <a:spcPts val="239"/>
              </a:spcAft>
              <a:defRPr sz="1200" b="0">
                <a:solidFill>
                  <a:srgbClr val="C8D2E1"/>
                </a:solidFill>
                <a:latin typeface="Calibri"/>
              </a:defRPr>
            </a:pPr>
            <a:r>
              <a:t>&gt; Unique deliverable (custom system)</a:t>
            </a:r>
          </a:p>
          <a:p>
            <a:pPr algn="l">
              <a:spcAft>
                <a:spcPts val="239"/>
              </a:spcAft>
              <a:defRPr sz="1200" b="0">
                <a:solidFill>
                  <a:srgbClr val="C8D2E1"/>
                </a:solidFill>
                <a:latin typeface="Calibri"/>
              </a:defRPr>
            </a:pPr>
            <a:r>
              <a:t>&gt; Progressive elaboration</a:t>
            </a:r>
          </a:p>
          <a:p>
            <a:pPr algn="l">
              <a:spcAft>
                <a:spcPts val="239"/>
              </a:spcAft>
              <a:defRPr sz="1200" b="0">
                <a:solidFill>
                  <a:srgbClr val="C8D2E1"/>
                </a:solidFill>
                <a:latin typeface="Calibri"/>
              </a:defRPr>
            </a:pPr>
            <a:r>
              <a:t>&gt; Resource constraints (budget/time)</a:t>
            </a:r>
          </a:p>
          <a:p>
            <a:pPr algn="l">
              <a:spcAft>
                <a:spcPts val="239"/>
              </a:spcAft>
              <a:defRPr sz="1200" b="0">
                <a:solidFill>
                  <a:srgbClr val="C8D2E1"/>
                </a:solidFill>
                <a:latin typeface="Calibri"/>
              </a:defRPr>
            </a:pPr>
            <a:r>
              <a:t>&gt; Risk and uncertainty present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931920"/>
            <a:ext cx="11247120" cy="2560320"/>
          </a:xfrm>
          <a:prstGeom prst="roundRect">
            <a:avLst/>
          </a:prstGeom>
          <a:solidFill>
            <a:srgbClr val="12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023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F37"/>
                </a:solidFill>
                <a:latin typeface="Calibri"/>
              </a:defRPr>
            </a:pPr>
            <a:r>
              <a:t>The Proposed Solution: SPMS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43484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59"/>
              </a:spcAft>
              <a:defRPr sz="1300" b="0">
                <a:solidFill>
                  <a:srgbClr val="C8D2E1"/>
                </a:solidFill>
                <a:latin typeface="Calibri"/>
              </a:defRPr>
            </a:pPr>
            <a:r>
              <a:t>  Online proposal submission</a:t>
            </a:r>
          </a:p>
          <a:p>
            <a:pPr algn="l">
              <a:spcAft>
                <a:spcPts val="259"/>
              </a:spcAft>
              <a:defRPr sz="1300" b="0">
                <a:solidFill>
                  <a:srgbClr val="C8D2E1"/>
                </a:solidFill>
                <a:latin typeface="Calibri"/>
              </a:defRPr>
            </a:pPr>
            <a:r>
              <a:t>  Supervisor allocation</a:t>
            </a:r>
          </a:p>
          <a:p>
            <a:pPr algn="l">
              <a:spcAft>
                <a:spcPts val="259"/>
              </a:spcAft>
              <a:defRPr sz="1300" b="0">
                <a:solidFill>
                  <a:srgbClr val="C8D2E1"/>
                </a:solidFill>
                <a:latin typeface="Calibri"/>
              </a:defRPr>
            </a:pPr>
            <a:r>
              <a:t>  Milestone tracking</a:t>
            </a:r>
          </a:p>
          <a:p>
            <a:pPr algn="l">
              <a:spcAft>
                <a:spcPts val="259"/>
              </a:spcAft>
              <a:defRPr sz="1300" b="0">
                <a:solidFill>
                  <a:srgbClr val="C8D2E1"/>
                </a:solidFill>
                <a:latin typeface="Calibri"/>
              </a:defRPr>
            </a:pPr>
            <a:r>
              <a:t>  Progress reporting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443484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59"/>
              </a:spcAft>
              <a:defRPr sz="1300" b="0">
                <a:solidFill>
                  <a:srgbClr val="C8D2E1"/>
                </a:solidFill>
                <a:latin typeface="Calibri"/>
              </a:defRPr>
            </a:pPr>
            <a:r>
              <a:t>  Meeting scheduling</a:t>
            </a:r>
          </a:p>
          <a:p>
            <a:pPr algn="l">
              <a:spcAft>
                <a:spcPts val="259"/>
              </a:spcAft>
              <a:defRPr sz="1300" b="0">
                <a:solidFill>
                  <a:srgbClr val="C8D2E1"/>
                </a:solidFill>
                <a:latin typeface="Calibri"/>
              </a:defRPr>
            </a:pPr>
            <a:r>
              <a:t>  Notifications &amp; reminders</a:t>
            </a:r>
          </a:p>
          <a:p>
            <a:pPr algn="l">
              <a:spcAft>
                <a:spcPts val="259"/>
              </a:spcAft>
              <a:defRPr sz="1300" b="0">
                <a:solidFill>
                  <a:srgbClr val="C8D2E1"/>
                </a:solidFill>
                <a:latin typeface="Calibri"/>
              </a:defRPr>
            </a:pPr>
            <a:r>
              <a:t>  Document management</a:t>
            </a:r>
          </a:p>
          <a:p>
            <a:pPr algn="l">
              <a:spcAft>
                <a:spcPts val="259"/>
              </a:spcAft>
              <a:defRPr sz="1300" b="0">
                <a:solidFill>
                  <a:srgbClr val="C8D2E1"/>
                </a:solidFill>
                <a:latin typeface="Calibri"/>
              </a:defRPr>
            </a:pPr>
            <a:r>
              <a:t>  Project assessment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C9BB4"/>
                </a:solidFill>
                <a:latin typeface="Calibri"/>
              </a:defRPr>
            </a:pPr>
            <a:r>
              <a:t>3/13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2011680" cy="292608"/>
          </a:xfrm>
          <a:prstGeom prst="roundRect">
            <a:avLst/>
          </a:prstGeom>
          <a:solidFill>
            <a:srgbClr val="009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5F7FA"/>
                </a:solidFill>
                <a:latin typeface="Calibri"/>
              </a:defRPr>
            </a:pPr>
            <a:r>
              <a:t>SECTION 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5F7FA"/>
                </a:solidFill>
                <a:latin typeface="Calibri"/>
              </a:defRPr>
            </a:pPr>
            <a:r>
              <a:t>Stakeholder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1828800" cy="38100"/>
          </a:xfrm>
          <a:prstGeom prst="rect">
            <a:avLst/>
          </a:prstGeom>
          <a:solidFill>
            <a:srgbClr val="00B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2286000" cy="411480"/>
          </a:xfrm>
          <a:prstGeom prst="rect">
            <a:avLst/>
          </a:prstGeom>
          <a:solidFill>
            <a:srgbClr val="009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ctr">
              <a:defRPr sz="1100" b="1">
                <a:solidFill>
                  <a:srgbClr val="F5F7FA"/>
                </a:solidFill>
                <a:latin typeface="Calibri"/>
              </a:defRPr>
            </a:pPr>
            <a:r>
              <a:t>Stakeholder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2834640" y="1828800"/>
            <a:ext cx="5943600" cy="411480"/>
          </a:xfrm>
          <a:prstGeom prst="rect">
            <a:avLst/>
          </a:prstGeom>
          <a:solidFill>
            <a:srgbClr val="009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ctr">
              <a:defRPr sz="1100" b="1">
                <a:solidFill>
                  <a:srgbClr val="F5F7FA"/>
                </a:solidFill>
                <a:latin typeface="Calibri"/>
              </a:defRPr>
            </a:pPr>
            <a:r>
              <a:t>Interest</a:t>
            </a:r>
          </a:p>
        </p:txBody>
      </p:sp>
      <p:sp>
        <p:nvSpPr>
          <p:cNvPr id="7" name="Rectangle 6"/>
          <p:cNvSpPr/>
          <p:nvPr/>
        </p:nvSpPr>
        <p:spPr>
          <a:xfrm>
            <a:off x="8778240" y="1828800"/>
            <a:ext cx="1371600" cy="411480"/>
          </a:xfrm>
          <a:prstGeom prst="rect">
            <a:avLst/>
          </a:prstGeom>
          <a:solidFill>
            <a:srgbClr val="009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ctr">
              <a:defRPr sz="1100" b="1">
                <a:solidFill>
                  <a:srgbClr val="F5F7FA"/>
                </a:solidFill>
                <a:latin typeface="Calibri"/>
              </a:defRPr>
            </a:pPr>
            <a:r>
              <a:t>Power</a:t>
            </a:r>
          </a:p>
        </p:txBody>
      </p:sp>
      <p:sp>
        <p:nvSpPr>
          <p:cNvPr id="8" name="Rectangle 7"/>
          <p:cNvSpPr/>
          <p:nvPr/>
        </p:nvSpPr>
        <p:spPr>
          <a:xfrm>
            <a:off x="10149840" y="1828800"/>
            <a:ext cx="1371600" cy="411480"/>
          </a:xfrm>
          <a:prstGeom prst="rect">
            <a:avLst/>
          </a:prstGeom>
          <a:solidFill>
            <a:srgbClr val="009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ctr">
              <a:defRPr sz="1100" b="1">
                <a:solidFill>
                  <a:srgbClr val="F5F7FA"/>
                </a:solidFill>
                <a:latin typeface="Calibri"/>
              </a:defRPr>
            </a:pPr>
            <a:r>
              <a:t>Influence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286000"/>
            <a:ext cx="2286000" cy="594360"/>
          </a:xfrm>
          <a:prstGeom prst="rect">
            <a:avLst/>
          </a:prstGeom>
          <a:solidFill>
            <a:srgbClr val="12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/>
          <a:lstStyle/>
          <a:p>
            <a:pPr algn="ctr">
              <a:defRPr sz="1100" b="1">
                <a:solidFill>
                  <a:srgbClr val="00BCB4"/>
                </a:solidFill>
                <a:latin typeface="Calibri"/>
              </a:defRPr>
            </a:pPr>
            <a:r>
              <a:t>University Management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34640" y="2286000"/>
            <a:ext cx="5943600" cy="594360"/>
          </a:xfrm>
          <a:prstGeom prst="rect">
            <a:avLst/>
          </a:prstGeom>
          <a:solidFill>
            <a:srgbClr val="12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/>
          <a:lstStyle/>
          <a:p>
            <a:pPr algn="ctr">
              <a:defRPr sz="1100">
                <a:solidFill>
                  <a:srgbClr val="C8D2E1"/>
                </a:solidFill>
                <a:latin typeface="Calibri"/>
              </a:defRPr>
            </a:pPr>
            <a:r>
              <a:t>ROI on UGX 450M; improved graduation rates; institutional reputation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78240" y="2286000"/>
            <a:ext cx="1371600" cy="594360"/>
          </a:xfrm>
          <a:prstGeom prst="rect">
            <a:avLst/>
          </a:prstGeom>
          <a:solidFill>
            <a:srgbClr val="12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/>
          <a:lstStyle/>
          <a:p>
            <a:pPr algn="ctr">
              <a:defRPr sz="1100" b="1">
                <a:solidFill>
                  <a:srgbClr val="E85D5D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149840" y="2286000"/>
            <a:ext cx="1371600" cy="594360"/>
          </a:xfrm>
          <a:prstGeom prst="rect">
            <a:avLst/>
          </a:prstGeom>
          <a:solidFill>
            <a:srgbClr val="12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/>
          <a:lstStyle/>
          <a:p>
            <a:pPr algn="ctr">
              <a:defRPr sz="1100" b="1">
                <a:solidFill>
                  <a:srgbClr val="E85D5D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971800"/>
            <a:ext cx="2286000" cy="594360"/>
          </a:xfrm>
          <a:prstGeom prst="rect">
            <a:avLst/>
          </a:prstGeom>
          <a:solidFill>
            <a:srgbClr val="0C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/>
          <a:lstStyle/>
          <a:p>
            <a:pPr algn="ctr">
              <a:defRPr sz="1100" b="1">
                <a:solidFill>
                  <a:srgbClr val="00BCB4"/>
                </a:solidFill>
                <a:latin typeface="Calibri"/>
              </a:defRPr>
            </a:pPr>
            <a:r>
              <a:t>Deputy Principal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34640" y="2971800"/>
            <a:ext cx="5943600" cy="594360"/>
          </a:xfrm>
          <a:prstGeom prst="rect">
            <a:avLst/>
          </a:prstGeom>
          <a:solidFill>
            <a:srgbClr val="0C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/>
          <a:lstStyle/>
          <a:p>
            <a:pPr algn="ctr">
              <a:defRPr sz="1100">
                <a:solidFill>
                  <a:srgbClr val="C8D2E1"/>
                </a:solidFill>
                <a:latin typeface="Calibri"/>
              </a:defRPr>
            </a:pPr>
            <a:r>
              <a:t>Sponsor visibility; on-time delivery; project success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78240" y="2971800"/>
            <a:ext cx="1371600" cy="594360"/>
          </a:xfrm>
          <a:prstGeom prst="rect">
            <a:avLst/>
          </a:prstGeom>
          <a:solidFill>
            <a:srgbClr val="0C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/>
          <a:lstStyle/>
          <a:p>
            <a:pPr algn="ctr">
              <a:defRPr sz="1100" b="1">
                <a:solidFill>
                  <a:srgbClr val="E85D5D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149840" y="2971800"/>
            <a:ext cx="1371600" cy="594360"/>
          </a:xfrm>
          <a:prstGeom prst="rect">
            <a:avLst/>
          </a:prstGeom>
          <a:solidFill>
            <a:srgbClr val="0C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/>
          <a:lstStyle/>
          <a:p>
            <a:pPr algn="ctr">
              <a:defRPr sz="1100" b="1">
                <a:solidFill>
                  <a:srgbClr val="E85D5D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657600"/>
            <a:ext cx="2286000" cy="594360"/>
          </a:xfrm>
          <a:prstGeom prst="rect">
            <a:avLst/>
          </a:prstGeom>
          <a:solidFill>
            <a:srgbClr val="12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/>
          <a:lstStyle/>
          <a:p>
            <a:pPr algn="ctr">
              <a:defRPr sz="1100" b="1">
                <a:solidFill>
                  <a:srgbClr val="00BCB4"/>
                </a:solidFill>
                <a:latin typeface="Calibri"/>
              </a:defRPr>
            </a:pPr>
            <a:r>
              <a:t>Students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34640" y="3657600"/>
            <a:ext cx="5943600" cy="594360"/>
          </a:xfrm>
          <a:prstGeom prst="rect">
            <a:avLst/>
          </a:prstGeom>
          <a:solidFill>
            <a:srgbClr val="12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/>
          <a:lstStyle/>
          <a:p>
            <a:pPr algn="ctr">
              <a:defRPr sz="1100">
                <a:solidFill>
                  <a:srgbClr val="C8D2E1"/>
                </a:solidFill>
                <a:latin typeface="Calibri"/>
              </a:defRPr>
            </a:pPr>
            <a:r>
              <a:t>Easy submission; clear deadlines; timely feedback; transparency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78240" y="3657600"/>
            <a:ext cx="1371600" cy="594360"/>
          </a:xfrm>
          <a:prstGeom prst="rect">
            <a:avLst/>
          </a:prstGeom>
          <a:solidFill>
            <a:srgbClr val="12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/>
          <a:lstStyle/>
          <a:p>
            <a:pPr algn="ctr">
              <a:defRPr sz="1100" b="1">
                <a:solidFill>
                  <a:srgbClr val="E85D5D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149840" y="3657600"/>
            <a:ext cx="1371600" cy="594360"/>
          </a:xfrm>
          <a:prstGeom prst="rect">
            <a:avLst/>
          </a:prstGeom>
          <a:solidFill>
            <a:srgbClr val="12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/>
          <a:lstStyle/>
          <a:p>
            <a:pPr algn="ctr">
              <a:defRPr sz="1100">
                <a:solidFill>
                  <a:srgbClr val="C8D2E1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343400"/>
            <a:ext cx="2286000" cy="594360"/>
          </a:xfrm>
          <a:prstGeom prst="rect">
            <a:avLst/>
          </a:prstGeom>
          <a:solidFill>
            <a:srgbClr val="0C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/>
          <a:lstStyle/>
          <a:p>
            <a:pPr algn="ctr">
              <a:defRPr sz="1100" b="1">
                <a:solidFill>
                  <a:srgbClr val="00BCB4"/>
                </a:solidFill>
                <a:latin typeface="Calibri"/>
              </a:defRPr>
            </a:pPr>
            <a:r>
              <a:t>Academic Staff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34640" y="4343400"/>
            <a:ext cx="5943600" cy="594360"/>
          </a:xfrm>
          <a:prstGeom prst="rect">
            <a:avLst/>
          </a:prstGeom>
          <a:solidFill>
            <a:srgbClr val="0C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/>
          <a:lstStyle/>
          <a:p>
            <a:pPr algn="ctr">
              <a:defRPr sz="1100">
                <a:solidFill>
                  <a:srgbClr val="C8D2E1"/>
                </a:solidFill>
                <a:latin typeface="Calibri"/>
              </a:defRPr>
            </a:pPr>
            <a:r>
              <a:t>Manageable workload; efficient communication; fair allocation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78240" y="4343400"/>
            <a:ext cx="1371600" cy="594360"/>
          </a:xfrm>
          <a:prstGeom prst="rect">
            <a:avLst/>
          </a:prstGeom>
          <a:solidFill>
            <a:srgbClr val="0C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/>
          <a:lstStyle/>
          <a:p>
            <a:pPr algn="ctr">
              <a:defRPr sz="1100">
                <a:solidFill>
                  <a:srgbClr val="C8D2E1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149840" y="4343400"/>
            <a:ext cx="1371600" cy="594360"/>
          </a:xfrm>
          <a:prstGeom prst="rect">
            <a:avLst/>
          </a:prstGeom>
          <a:solidFill>
            <a:srgbClr val="0C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/>
          <a:lstStyle/>
          <a:p>
            <a:pPr algn="ctr">
              <a:defRPr sz="1100" b="1">
                <a:solidFill>
                  <a:srgbClr val="E85D5D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029200"/>
            <a:ext cx="2286000" cy="594360"/>
          </a:xfrm>
          <a:prstGeom prst="rect">
            <a:avLst/>
          </a:prstGeom>
          <a:solidFill>
            <a:srgbClr val="12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/>
          <a:lstStyle/>
          <a:p>
            <a:pPr algn="ctr">
              <a:defRPr sz="1100" b="1">
                <a:solidFill>
                  <a:srgbClr val="00BCB4"/>
                </a:solidFill>
                <a:latin typeface="Calibri"/>
              </a:defRPr>
            </a:pPr>
            <a:r>
              <a:t>ICT Support Unit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34640" y="5029200"/>
            <a:ext cx="5943600" cy="594360"/>
          </a:xfrm>
          <a:prstGeom prst="rect">
            <a:avLst/>
          </a:prstGeom>
          <a:solidFill>
            <a:srgbClr val="12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/>
          <a:lstStyle/>
          <a:p>
            <a:pPr algn="ctr">
              <a:defRPr sz="1100">
                <a:solidFill>
                  <a:srgbClr val="C8D2E1"/>
                </a:solidFill>
                <a:latin typeface="Calibri"/>
              </a:defRPr>
            </a:pPr>
            <a:r>
              <a:t>Maintainability; integration feasibility; security compliance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778240" y="5029200"/>
            <a:ext cx="1371600" cy="594360"/>
          </a:xfrm>
          <a:prstGeom prst="rect">
            <a:avLst/>
          </a:prstGeom>
          <a:solidFill>
            <a:srgbClr val="12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/>
          <a:lstStyle/>
          <a:p>
            <a:pPr algn="ctr">
              <a:defRPr sz="1100">
                <a:solidFill>
                  <a:srgbClr val="C8D2E1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149840" y="5029200"/>
            <a:ext cx="1371600" cy="594360"/>
          </a:xfrm>
          <a:prstGeom prst="rect">
            <a:avLst/>
          </a:prstGeom>
          <a:solidFill>
            <a:srgbClr val="12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/>
          <a:lstStyle/>
          <a:p>
            <a:pPr algn="ctr">
              <a:defRPr sz="1100">
                <a:solidFill>
                  <a:srgbClr val="C8D2E1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5715000"/>
            <a:ext cx="2286000" cy="594360"/>
          </a:xfrm>
          <a:prstGeom prst="rect">
            <a:avLst/>
          </a:prstGeom>
          <a:solidFill>
            <a:srgbClr val="0C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/>
          <a:lstStyle/>
          <a:p>
            <a:pPr algn="ctr">
              <a:defRPr sz="1100" b="1">
                <a:solidFill>
                  <a:srgbClr val="00BCB4"/>
                </a:solidFill>
                <a:latin typeface="Calibri"/>
              </a:defRPr>
            </a:pPr>
            <a:r>
              <a:t>Department Heads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834640" y="5715000"/>
            <a:ext cx="5943600" cy="594360"/>
          </a:xfrm>
          <a:prstGeom prst="rect">
            <a:avLst/>
          </a:prstGeom>
          <a:solidFill>
            <a:srgbClr val="0C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/>
          <a:lstStyle/>
          <a:p>
            <a:pPr algn="ctr">
              <a:defRPr sz="1100">
                <a:solidFill>
                  <a:srgbClr val="C8D2E1"/>
                </a:solidFill>
                <a:latin typeface="Calibri"/>
              </a:defRPr>
            </a:pPr>
            <a:r>
              <a:t>Smooth operations; workload balance; reporting access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778240" y="5715000"/>
            <a:ext cx="1371600" cy="594360"/>
          </a:xfrm>
          <a:prstGeom prst="rect">
            <a:avLst/>
          </a:prstGeom>
          <a:solidFill>
            <a:srgbClr val="0C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/>
          <a:lstStyle/>
          <a:p>
            <a:pPr algn="ctr">
              <a:defRPr sz="1100">
                <a:solidFill>
                  <a:srgbClr val="C8D2E1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149840" y="5715000"/>
            <a:ext cx="1371600" cy="594360"/>
          </a:xfrm>
          <a:prstGeom prst="rect">
            <a:avLst/>
          </a:prstGeom>
          <a:solidFill>
            <a:srgbClr val="0C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/>
          <a:lstStyle/>
          <a:p>
            <a:pPr algn="ctr">
              <a:defRPr sz="1100">
                <a:solidFill>
                  <a:srgbClr val="C8D2E1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C9BB4"/>
                </a:solidFill>
                <a:latin typeface="Calibri"/>
              </a:defRPr>
            </a:pPr>
            <a:r>
              <a:t>4/13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2011680" cy="292608"/>
          </a:xfrm>
          <a:prstGeom prst="roundRect">
            <a:avLst/>
          </a:prstGeom>
          <a:solidFill>
            <a:srgbClr val="009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5F7FA"/>
                </a:solidFill>
                <a:latin typeface="Calibri"/>
              </a:defRPr>
            </a:pPr>
            <a:r>
              <a:t>SECTION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5F7FA"/>
                </a:solidFill>
                <a:latin typeface="Calibri"/>
              </a:defRPr>
            </a:pPr>
            <a:r>
              <a:t>Project Charter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1828800" cy="38100"/>
          </a:xfrm>
          <a:prstGeom prst="rect">
            <a:avLst/>
          </a:prstGeom>
          <a:solidFill>
            <a:srgbClr val="00B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2560320" cy="1005840"/>
          </a:xfrm>
          <a:prstGeom prst="roundRect">
            <a:avLst/>
          </a:prstGeom>
          <a:solidFill>
            <a:srgbClr val="12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0BCB4"/>
                </a:solidFill>
                <a:latin typeface="Calibri"/>
              </a:defRPr>
            </a:pPr>
            <a:r>
              <a:t>UGX 450M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C9BB4"/>
                </a:solidFill>
                <a:latin typeface="Calibri"/>
              </a:defRPr>
            </a:pPr>
            <a:r>
              <a:t>Budget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920240"/>
            <a:ext cx="2560320" cy="1005840"/>
          </a:xfrm>
          <a:prstGeom prst="roundRect">
            <a:avLst/>
          </a:prstGeom>
          <a:solidFill>
            <a:srgbClr val="12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20116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0BCB4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4688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C9BB4"/>
                </a:solidFill>
                <a:latin typeface="Calibri"/>
              </a:defRPr>
            </a:pPr>
            <a:r>
              <a:t>Months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2560320" cy="1005840"/>
          </a:xfrm>
          <a:prstGeom prst="roundRect">
            <a:avLst/>
          </a:prstGeom>
          <a:solidFill>
            <a:srgbClr val="12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20116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0BCB4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4688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C9BB4"/>
                </a:solidFill>
                <a:latin typeface="Calibri"/>
              </a:defRPr>
            </a:pPr>
            <a:r>
              <a:t>Features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60" y="1920240"/>
            <a:ext cx="2560320" cy="1005840"/>
          </a:xfrm>
          <a:prstGeom prst="roundRect">
            <a:avLst/>
          </a:prstGeom>
          <a:solidFill>
            <a:srgbClr val="12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0" y="20116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0BCB4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24688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C9BB4"/>
                </a:solidFill>
                <a:latin typeface="Calibri"/>
              </a:defRPr>
            </a:pPr>
            <a:r>
              <a:t>Deliverables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200400"/>
            <a:ext cx="5486400" cy="3291840"/>
          </a:xfrm>
          <a:prstGeom prst="roundRect">
            <a:avLst/>
          </a:prstGeom>
          <a:solidFill>
            <a:srgbClr val="12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2918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F37"/>
                </a:solidFill>
                <a:latin typeface="Calibri"/>
              </a:defRPr>
            </a:pPr>
            <a:r>
              <a:t>Project Objectives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749039"/>
            <a:ext cx="4937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59"/>
              </a:spcAft>
              <a:defRPr sz="1300" b="0">
                <a:solidFill>
                  <a:srgbClr val="C8D2E1"/>
                </a:solidFill>
                <a:latin typeface="Calibri"/>
              </a:defRPr>
            </a:pPr>
            <a:r>
              <a:t>&gt; Deliver functional SPMS within 10 months</a:t>
            </a:r>
          </a:p>
          <a:p>
            <a:pPr algn="l">
              <a:spcAft>
                <a:spcPts val="259"/>
              </a:spcAft>
              <a:defRPr sz="1300" b="0">
                <a:solidFill>
                  <a:srgbClr val="C8D2E1"/>
                </a:solidFill>
                <a:latin typeface="Calibri"/>
              </a:defRPr>
            </a:pPr>
            <a:r>
              <a:t>&gt; Complete within UGX 450M budget</a:t>
            </a:r>
          </a:p>
          <a:p>
            <a:pPr algn="l">
              <a:spcAft>
                <a:spcPts val="259"/>
              </a:spcAft>
              <a:defRPr sz="1300" b="0">
                <a:solidFill>
                  <a:srgbClr val="C8D2E1"/>
                </a:solidFill>
                <a:latin typeface="Calibri"/>
              </a:defRPr>
            </a:pPr>
            <a:r>
              <a:t>&gt; Achieve &gt;=80% user adoption in 3 months post-launch</a:t>
            </a:r>
          </a:p>
          <a:p>
            <a:pPr algn="l">
              <a:spcAft>
                <a:spcPts val="259"/>
              </a:spcAft>
              <a:defRPr sz="1300" b="0">
                <a:solidFill>
                  <a:srgbClr val="C8D2E1"/>
                </a:solidFill>
                <a:latin typeface="Calibri"/>
              </a:defRPr>
            </a:pPr>
            <a:r>
              <a:t>&gt; Seamless ACMIS integration</a:t>
            </a:r>
          </a:p>
          <a:p>
            <a:pPr algn="l">
              <a:spcAft>
                <a:spcPts val="259"/>
              </a:spcAft>
              <a:defRPr sz="1300" b="0">
                <a:solidFill>
                  <a:srgbClr val="C8D2E1"/>
                </a:solidFill>
                <a:latin typeface="Calibri"/>
              </a:defRPr>
            </a:pPr>
            <a:r>
              <a:t>&gt; Full data security &amp; privacy compliance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3200400"/>
            <a:ext cx="5486400" cy="3291840"/>
          </a:xfrm>
          <a:prstGeom prst="roundRect">
            <a:avLst/>
          </a:prstGeom>
          <a:solidFill>
            <a:srgbClr val="12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32918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F37"/>
                </a:solidFill>
                <a:latin typeface="Calibri"/>
              </a:defRPr>
            </a:pPr>
            <a:r>
              <a:t>System Features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749039"/>
            <a:ext cx="4937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59"/>
              </a:spcAft>
              <a:defRPr sz="1300" b="0">
                <a:solidFill>
                  <a:srgbClr val="C8D2E1"/>
                </a:solidFill>
                <a:latin typeface="Calibri"/>
              </a:defRPr>
            </a:pPr>
            <a:r>
              <a:t>&gt; Online proposal submission</a:t>
            </a:r>
          </a:p>
          <a:p>
            <a:pPr algn="l">
              <a:spcAft>
                <a:spcPts val="259"/>
              </a:spcAft>
              <a:defRPr sz="1300" b="0">
                <a:solidFill>
                  <a:srgbClr val="C8D2E1"/>
                </a:solidFill>
                <a:latin typeface="Calibri"/>
              </a:defRPr>
            </a:pPr>
            <a:r>
              <a:t>&gt; Supervisor allocation engine</a:t>
            </a:r>
          </a:p>
          <a:p>
            <a:pPr algn="l">
              <a:spcAft>
                <a:spcPts val="259"/>
              </a:spcAft>
              <a:defRPr sz="1300" b="0">
                <a:solidFill>
                  <a:srgbClr val="C8D2E1"/>
                </a:solidFill>
                <a:latin typeface="Calibri"/>
              </a:defRPr>
            </a:pPr>
            <a:r>
              <a:t>&gt; Milestone tracking &amp; progress reporting</a:t>
            </a:r>
          </a:p>
          <a:p>
            <a:pPr algn="l">
              <a:spcAft>
                <a:spcPts val="259"/>
              </a:spcAft>
              <a:defRPr sz="1300" b="0">
                <a:solidFill>
                  <a:srgbClr val="C8D2E1"/>
                </a:solidFill>
                <a:latin typeface="Calibri"/>
              </a:defRPr>
            </a:pPr>
            <a:r>
              <a:t>&gt; Meeting scheduling &amp; notifications</a:t>
            </a:r>
          </a:p>
          <a:p>
            <a:pPr algn="l">
              <a:spcAft>
                <a:spcPts val="259"/>
              </a:spcAft>
              <a:defRPr sz="1300" b="0">
                <a:solidFill>
                  <a:srgbClr val="C8D2E1"/>
                </a:solidFill>
                <a:latin typeface="Calibri"/>
              </a:defRPr>
            </a:pPr>
            <a:r>
              <a:t>&gt; Document management (version control)</a:t>
            </a:r>
          </a:p>
          <a:p>
            <a:pPr algn="l">
              <a:spcAft>
                <a:spcPts val="259"/>
              </a:spcAft>
              <a:defRPr sz="1300" b="0">
                <a:solidFill>
                  <a:srgbClr val="C8D2E1"/>
                </a:solidFill>
                <a:latin typeface="Calibri"/>
              </a:defRPr>
            </a:pPr>
            <a:r>
              <a:t>&gt; Project assessment &amp; grading</a:t>
            </a:r>
          </a:p>
          <a:p>
            <a:pPr algn="l">
              <a:spcAft>
                <a:spcPts val="259"/>
              </a:spcAft>
              <a:defRPr sz="1300" b="0">
                <a:solidFill>
                  <a:srgbClr val="C8D2E1"/>
                </a:solidFill>
                <a:latin typeface="Calibri"/>
              </a:defRPr>
            </a:pPr>
            <a:r>
              <a:t>&gt; Report generation for coordinators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C9BB4"/>
                </a:solidFill>
                <a:latin typeface="Calibri"/>
              </a:defRPr>
            </a:pPr>
            <a:r>
              <a:t>5/13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2011680" cy="292608"/>
          </a:xfrm>
          <a:prstGeom prst="roundRect">
            <a:avLst/>
          </a:prstGeom>
          <a:solidFill>
            <a:srgbClr val="009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5F7FA"/>
                </a:solidFill>
                <a:latin typeface="Calibri"/>
              </a:defRPr>
            </a:pPr>
            <a:r>
              <a:t>SECTION 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5F7FA"/>
                </a:solidFill>
                <a:latin typeface="Calibri"/>
              </a:defRPr>
            </a:pPr>
            <a:r>
              <a:t>Work Breakdown 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1828800" cy="38100"/>
          </a:xfrm>
          <a:prstGeom prst="rect">
            <a:avLst/>
          </a:prstGeom>
          <a:solidFill>
            <a:srgbClr val="00B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11064240" cy="1371600"/>
          </a:xfrm>
          <a:prstGeom prst="roundRect">
            <a:avLst/>
          </a:prstGeom>
          <a:solidFill>
            <a:srgbClr val="12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2194560"/>
            <a:ext cx="502920" cy="502920"/>
          </a:xfrm>
          <a:prstGeom prst="ellipse">
            <a:avLst/>
          </a:prstGeom>
          <a:solidFill>
            <a:srgbClr val="00B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5F7FA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2057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CB4"/>
                </a:solidFill>
                <a:latin typeface="Calibri"/>
              </a:defRPr>
            </a:pPr>
            <a:r>
              <a:t>Project Initiation &amp; Planning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423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19"/>
              </a:spcAft>
              <a:defRPr sz="1100" b="0">
                <a:solidFill>
                  <a:srgbClr val="8C9BB4"/>
                </a:solidFill>
                <a:latin typeface="Calibri"/>
              </a:defRPr>
            </a:pPr>
            <a:r>
              <a:t>1.1 Charter  |  1.2 Stakeholder Analysis  |  1.3 Requirements  |  1.4 Sign-off  |  1.5 Plan Baseline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429000"/>
            <a:ext cx="11064240" cy="1371600"/>
          </a:xfrm>
          <a:prstGeom prst="roundRect">
            <a:avLst/>
          </a:prstGeom>
          <a:solidFill>
            <a:srgbClr val="12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1520" y="3703320"/>
            <a:ext cx="502920" cy="502920"/>
          </a:xfrm>
          <a:prstGeom prst="ellipse">
            <a:avLst/>
          </a:prstGeom>
          <a:solidFill>
            <a:srgbClr val="52A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5F7FA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566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2A8F7"/>
                </a:solidFill>
                <a:latin typeface="Calibri"/>
              </a:defRPr>
            </a:pPr>
            <a:r>
              <a:t>System 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931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19"/>
              </a:spcAft>
              <a:defRPr sz="1100" b="0">
                <a:solidFill>
                  <a:srgbClr val="8C9BB4"/>
                </a:solidFill>
                <a:latin typeface="Calibri"/>
              </a:defRPr>
            </a:pPr>
            <a:r>
              <a:t>2.1 Database  |  2.2 Architecture  |  2.3 UI/UX  |  2.4 ACMIS Design  |  2.5 Design Review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937760"/>
            <a:ext cx="11064240" cy="1371600"/>
          </a:xfrm>
          <a:prstGeom prst="roundRect">
            <a:avLst/>
          </a:prstGeom>
          <a:solidFill>
            <a:srgbClr val="12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1520" y="5212080"/>
            <a:ext cx="502920" cy="502920"/>
          </a:xfrm>
          <a:prstGeom prst="ellipse">
            <a:avLst/>
          </a:prstGeom>
          <a:solidFill>
            <a:srgbClr val="48C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5F7FA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5074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8C78E"/>
                </a:solidFill>
                <a:latin typeface="Calibri"/>
              </a:defRPr>
            </a:pPr>
            <a:r>
              <a:t>Development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54406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19"/>
              </a:spcAft>
              <a:defRPr sz="1100" b="0">
                <a:solidFill>
                  <a:srgbClr val="8C9BB4"/>
                </a:solidFill>
                <a:latin typeface="Calibri"/>
              </a:defRPr>
            </a:pPr>
            <a:r>
              <a:t>3.1 Auth/RBAC  |  3.2 Proposals  |  3.3 Allocation  |  3.4 Milestones  |  3.5 Scheduling</a:t>
            </a:r>
          </a:p>
          <a:p>
            <a:pPr algn="l">
              <a:spcAft>
                <a:spcPts val="219"/>
              </a:spcAft>
              <a:defRPr sz="1100" b="0">
                <a:solidFill>
                  <a:srgbClr val="8C9BB4"/>
                </a:solidFill>
                <a:latin typeface="Calibri"/>
              </a:defRPr>
            </a:pPr>
            <a:r>
              <a:t>3.6 Documents  |  3.7 Assessment  |  3.8 Reports  |  3.9 ACMIS Integration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C9BB4"/>
                </a:solidFill>
                <a:latin typeface="Calibri"/>
              </a:defRPr>
            </a:pPr>
            <a:r>
              <a:t>6/13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2011680" cy="292608"/>
          </a:xfrm>
          <a:prstGeom prst="roundRect">
            <a:avLst/>
          </a:prstGeom>
          <a:solidFill>
            <a:srgbClr val="009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5F7FA"/>
                </a:solidFill>
                <a:latin typeface="Calibri"/>
              </a:defRPr>
            </a:pPr>
            <a:r>
              <a:t>SECTION D (cont.)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5F7FA"/>
                </a:solidFill>
                <a:latin typeface="Calibri"/>
              </a:defRPr>
            </a:pPr>
            <a:r>
              <a:t>Work Breakdown 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1828800" cy="38100"/>
          </a:xfrm>
          <a:prstGeom prst="rect">
            <a:avLst/>
          </a:prstGeom>
          <a:solidFill>
            <a:srgbClr val="00B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11064240" cy="1371600"/>
          </a:xfrm>
          <a:prstGeom prst="roundRect">
            <a:avLst/>
          </a:prstGeom>
          <a:solidFill>
            <a:srgbClr val="12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2194560"/>
            <a:ext cx="502920" cy="502920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5F7FA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2057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F37"/>
                </a:solidFill>
                <a:latin typeface="Calibri"/>
              </a:defRPr>
            </a:pPr>
            <a:r>
              <a:t>Testing &amp; QA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423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19"/>
              </a:spcAft>
              <a:defRPr sz="1100" b="0">
                <a:solidFill>
                  <a:srgbClr val="8C9BB4"/>
                </a:solidFill>
                <a:latin typeface="Calibri"/>
              </a:defRPr>
            </a:pPr>
            <a:r>
              <a:t>4.1 Unit  |  4.2 Integration  |  4.3 System  |  4.4 Security  |  4.5 Performance  |  4.6 UAT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429000"/>
            <a:ext cx="11064240" cy="1371600"/>
          </a:xfrm>
          <a:prstGeom prst="roundRect">
            <a:avLst/>
          </a:prstGeom>
          <a:solidFill>
            <a:srgbClr val="12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1520" y="3703320"/>
            <a:ext cx="502920" cy="502920"/>
          </a:xfrm>
          <a:prstGeom prst="ellipse">
            <a:avLst/>
          </a:prstGeom>
          <a:solidFill>
            <a:srgbClr val="E8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5F7FA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566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5D5D"/>
                </a:solidFill>
                <a:latin typeface="Calibri"/>
              </a:defRPr>
            </a:pPr>
            <a:r>
              <a:t>Deployment &amp; Training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931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19"/>
              </a:spcAft>
              <a:defRPr sz="1100" b="0">
                <a:solidFill>
                  <a:srgbClr val="8C9BB4"/>
                </a:solidFill>
                <a:latin typeface="Calibri"/>
              </a:defRPr>
            </a:pPr>
            <a:r>
              <a:t>5.1 Prod Setup  |  5.2 Migration  |  5.3 Go-Live  |  5.4 Training  |  5.5 Hypercare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937760"/>
            <a:ext cx="11064240" cy="1371600"/>
          </a:xfrm>
          <a:prstGeom prst="roundRect">
            <a:avLst/>
          </a:prstGeom>
          <a:solidFill>
            <a:srgbClr val="12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1520" y="5212080"/>
            <a:ext cx="502920" cy="502920"/>
          </a:xfrm>
          <a:prstGeom prst="ellipse">
            <a:avLst/>
          </a:prstGeom>
          <a:solidFill>
            <a:srgbClr val="8B8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5F7FA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5074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80E8"/>
                </a:solidFill>
                <a:latin typeface="Calibri"/>
              </a:defRPr>
            </a:pPr>
            <a:r>
              <a:t>Project Closure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54406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19"/>
              </a:spcAft>
              <a:defRPr sz="1100" b="0">
                <a:solidFill>
                  <a:srgbClr val="8C9BB4"/>
                </a:solidFill>
                <a:latin typeface="Calibri"/>
              </a:defRPr>
            </a:pPr>
            <a:r>
              <a:t>6.1 Documentation  |  6.2 Lessons Learned  |  6.3 ICT Transition  |  6.4 Sign-off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669280"/>
            <a:ext cx="11064240" cy="731520"/>
          </a:xfrm>
          <a:prstGeom prst="roundRect">
            <a:avLst/>
          </a:prstGeom>
          <a:solidFill>
            <a:srgbClr val="12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7607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C9BB4"/>
                </a:solidFill>
                <a:latin typeface="Calibri"/>
              </a:defRPr>
            </a:pPr>
            <a:r>
              <a:t>Total: 6 major phases  |  30+ work packages  |  3 levels of decomposition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C9BB4"/>
                </a:solidFill>
                <a:latin typeface="Calibri"/>
              </a:defRPr>
            </a:pPr>
            <a:r>
              <a:t>7/13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5F7FA"/>
                </a:solidFill>
                <a:latin typeface="Calibri"/>
              </a:defRPr>
            </a:pPr>
            <a:r>
              <a:t>Project Schedule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828800" cy="38100"/>
          </a:xfrm>
          <a:prstGeom prst="rect">
            <a:avLst/>
          </a:prstGeom>
          <a:solidFill>
            <a:srgbClr val="00B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926080" y="1371600"/>
            <a:ext cx="804672" cy="347472"/>
          </a:xfrm>
          <a:prstGeom prst="roundRect">
            <a:avLst/>
          </a:prstGeom>
          <a:solidFill>
            <a:srgbClr val="009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5F7FA"/>
                </a:solidFill>
                <a:latin typeface="Calibri"/>
              </a:defRPr>
            </a:pPr>
            <a:r>
              <a:t>M1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22191" y="1371600"/>
            <a:ext cx="804672" cy="347472"/>
          </a:xfrm>
          <a:prstGeom prst="roundRect">
            <a:avLst/>
          </a:prstGeom>
          <a:solidFill>
            <a:srgbClr val="009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5F7FA"/>
                </a:solidFill>
                <a:latin typeface="Calibri"/>
              </a:defRPr>
            </a:pPr>
            <a:r>
              <a:t>M2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18304" y="1371600"/>
            <a:ext cx="804672" cy="347472"/>
          </a:xfrm>
          <a:prstGeom prst="roundRect">
            <a:avLst/>
          </a:prstGeom>
          <a:solidFill>
            <a:srgbClr val="009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5F7FA"/>
                </a:solidFill>
                <a:latin typeface="Calibri"/>
              </a:defRPr>
            </a:pPr>
            <a:r>
              <a:t>M3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14416" y="1371600"/>
            <a:ext cx="804672" cy="347472"/>
          </a:xfrm>
          <a:prstGeom prst="roundRect">
            <a:avLst/>
          </a:prstGeom>
          <a:solidFill>
            <a:srgbClr val="009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5F7FA"/>
                </a:solidFill>
                <a:latin typeface="Calibri"/>
              </a:defRPr>
            </a:pPr>
            <a:r>
              <a:t>M4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10528" y="1371600"/>
            <a:ext cx="804672" cy="347472"/>
          </a:xfrm>
          <a:prstGeom prst="roundRect">
            <a:avLst/>
          </a:prstGeom>
          <a:solidFill>
            <a:srgbClr val="009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5F7FA"/>
                </a:solidFill>
                <a:latin typeface="Calibri"/>
              </a:defRPr>
            </a:pPr>
            <a:r>
              <a:t>M5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1371600"/>
            <a:ext cx="804672" cy="347472"/>
          </a:xfrm>
          <a:prstGeom prst="roundRect">
            <a:avLst/>
          </a:prstGeom>
          <a:solidFill>
            <a:srgbClr val="009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5F7FA"/>
                </a:solidFill>
                <a:latin typeface="Calibri"/>
              </a:defRPr>
            </a:pPr>
            <a:r>
              <a:t>M6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02752" y="1371600"/>
            <a:ext cx="804672" cy="347472"/>
          </a:xfrm>
          <a:prstGeom prst="roundRect">
            <a:avLst/>
          </a:prstGeom>
          <a:solidFill>
            <a:srgbClr val="009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5F7FA"/>
                </a:solidFill>
                <a:latin typeface="Calibri"/>
              </a:defRPr>
            </a:pPr>
            <a:r>
              <a:t>M7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98863" y="1371600"/>
            <a:ext cx="804672" cy="347472"/>
          </a:xfrm>
          <a:prstGeom prst="roundRect">
            <a:avLst/>
          </a:prstGeom>
          <a:solidFill>
            <a:srgbClr val="009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5F7FA"/>
                </a:solidFill>
                <a:latin typeface="Calibri"/>
              </a:defRPr>
            </a:pPr>
            <a:r>
              <a:t>M8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94976" y="1371600"/>
            <a:ext cx="804672" cy="347472"/>
          </a:xfrm>
          <a:prstGeom prst="roundRect">
            <a:avLst/>
          </a:prstGeom>
          <a:solidFill>
            <a:srgbClr val="009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5F7FA"/>
                </a:solidFill>
                <a:latin typeface="Calibri"/>
              </a:defRPr>
            </a:pPr>
            <a:r>
              <a:t>M9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91088" y="1371600"/>
            <a:ext cx="804672" cy="347472"/>
          </a:xfrm>
          <a:prstGeom prst="roundRect">
            <a:avLst/>
          </a:prstGeom>
          <a:solidFill>
            <a:srgbClr val="009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5F7FA"/>
                </a:solidFill>
                <a:latin typeface="Calibri"/>
              </a:defRPr>
            </a:pPr>
            <a:r>
              <a:t>M10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19659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C8D2E1"/>
                </a:solidFill>
                <a:latin typeface="Calibri"/>
              </a:defRPr>
            </a:pPr>
            <a:r>
              <a:t>Initiation &amp; Planning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26080" y="1965960"/>
            <a:ext cx="1792224" cy="365760"/>
          </a:xfrm>
          <a:prstGeom prst="roundRect">
            <a:avLst/>
          </a:prstGeom>
          <a:solidFill>
            <a:srgbClr val="00B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A0F1E"/>
                </a:solidFill>
                <a:latin typeface="Calibri"/>
              </a:defRPr>
            </a:pPr>
            <a:r>
              <a:t>2 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26517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C8D2E1"/>
                </a:solidFill>
                <a:latin typeface="Calibri"/>
              </a:defRPr>
            </a:pPr>
            <a:r>
              <a:t>System Design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18304" y="2651760"/>
            <a:ext cx="1792224" cy="365760"/>
          </a:xfrm>
          <a:prstGeom prst="roundRect">
            <a:avLst/>
          </a:prstGeom>
          <a:solidFill>
            <a:srgbClr val="52A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A0F1E"/>
                </a:solidFill>
                <a:latin typeface="Calibri"/>
              </a:defRPr>
            </a:pPr>
            <a:r>
              <a:t>2 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3375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C8D2E1"/>
                </a:solidFill>
                <a:latin typeface="Calibri"/>
              </a:defRPr>
            </a:pPr>
            <a:r>
              <a:t>Development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14416" y="3337560"/>
            <a:ext cx="3584448" cy="365760"/>
          </a:xfrm>
          <a:prstGeom prst="roundRect">
            <a:avLst/>
          </a:prstGeom>
          <a:solidFill>
            <a:srgbClr val="48C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A0F1E"/>
                </a:solidFill>
                <a:latin typeface="Calibri"/>
              </a:defRPr>
            </a:pPr>
            <a:r>
              <a:t>4 mo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023359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C8D2E1"/>
                </a:solidFill>
                <a:latin typeface="Calibri"/>
              </a:defRPr>
            </a:pPr>
            <a:r>
              <a:t>Testing &amp; QA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02752" y="4023359"/>
            <a:ext cx="2688336" cy="36576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A0F1E"/>
                </a:solidFill>
                <a:latin typeface="Calibri"/>
              </a:defRPr>
            </a:pPr>
            <a:r>
              <a:t>3 mo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7091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C8D2E1"/>
                </a:solidFill>
                <a:latin typeface="Calibri"/>
              </a:defRPr>
            </a:pPr>
            <a:r>
              <a:t>Deployment &amp; Training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94976" y="4709160"/>
            <a:ext cx="1792224" cy="365760"/>
          </a:xfrm>
          <a:prstGeom prst="roundRect">
            <a:avLst/>
          </a:prstGeom>
          <a:solidFill>
            <a:srgbClr val="E8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A0F1E"/>
                </a:solidFill>
                <a:latin typeface="Calibri"/>
              </a:defRPr>
            </a:pPr>
            <a:r>
              <a:t>2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53949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C8D2E1"/>
                </a:solidFill>
                <a:latin typeface="Calibri"/>
              </a:defRPr>
            </a:pPr>
            <a:r>
              <a:t>Project Closure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991088" y="5394960"/>
            <a:ext cx="896112" cy="365760"/>
          </a:xfrm>
          <a:prstGeom prst="roundRect">
            <a:avLst/>
          </a:prstGeom>
          <a:solidFill>
            <a:srgbClr val="8B8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A0F1E"/>
                </a:solidFill>
                <a:latin typeface="Calibri"/>
              </a:defRPr>
            </a:pPr>
            <a:r>
              <a:t>1 mo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12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97280" y="6126480"/>
            <a:ext cx="274320" cy="274320"/>
          </a:xfrm>
          <a:prstGeom prst="roundRect">
            <a:avLst/>
          </a:prstGeom>
          <a:solidFill>
            <a:srgbClr val="00B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463040" y="614476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9BB4"/>
                </a:solidFill>
                <a:latin typeface="Calibri"/>
              </a:defRPr>
            </a:pPr>
            <a:r>
              <a:t>Initiation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926080" y="6126480"/>
            <a:ext cx="274320" cy="274320"/>
          </a:xfrm>
          <a:prstGeom prst="roundRect">
            <a:avLst/>
          </a:prstGeom>
          <a:solidFill>
            <a:srgbClr val="52A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91840" y="614476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9BB4"/>
                </a:solidFill>
                <a:latin typeface="Calibri"/>
              </a:defRPr>
            </a:pPr>
            <a:r>
              <a:t>Design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54880" y="6126480"/>
            <a:ext cx="274320" cy="274320"/>
          </a:xfrm>
          <a:prstGeom prst="roundRect">
            <a:avLst/>
          </a:prstGeom>
          <a:solidFill>
            <a:srgbClr val="48C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20640" y="614476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9BB4"/>
                </a:solidFill>
                <a:latin typeface="Calibri"/>
              </a:defRPr>
            </a:pPr>
            <a:r>
              <a:t>Development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0" y="6126480"/>
            <a:ext cx="274320" cy="27432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49440" y="614476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9BB4"/>
                </a:solidFill>
                <a:latin typeface="Calibri"/>
              </a:defRPr>
            </a:pPr>
            <a:r>
              <a:t>Testing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412480" y="6126480"/>
            <a:ext cx="274320" cy="274320"/>
          </a:xfrm>
          <a:prstGeom prst="roundRect">
            <a:avLst/>
          </a:prstGeom>
          <a:solidFill>
            <a:srgbClr val="E8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778240" y="614476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9BB4"/>
                </a:solidFill>
                <a:latin typeface="Calibri"/>
              </a:defRPr>
            </a:pPr>
            <a:r>
              <a:t>Deployment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241280" y="6126480"/>
            <a:ext cx="274320" cy="274320"/>
          </a:xfrm>
          <a:prstGeom prst="roundRect">
            <a:avLst/>
          </a:prstGeom>
          <a:solidFill>
            <a:srgbClr val="8B8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607040" y="614476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9BB4"/>
                </a:solidFill>
                <a:latin typeface="Calibri"/>
              </a:defRPr>
            </a:pPr>
            <a:r>
              <a:t>Closure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C9BB4"/>
                </a:solidFill>
                <a:latin typeface="Calibri"/>
              </a:defRPr>
            </a:pPr>
            <a:r>
              <a:t>8/13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5F7FA"/>
                </a:solidFill>
                <a:latin typeface="Calibri"/>
              </a:defRPr>
            </a:pPr>
            <a:r>
              <a:t>Project Milestones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828800" cy="38100"/>
          </a:xfrm>
          <a:prstGeom prst="rect">
            <a:avLst/>
          </a:prstGeom>
          <a:solidFill>
            <a:srgbClr val="00B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0" y="1463040"/>
            <a:ext cx="25400" cy="5029200"/>
          </a:xfrm>
          <a:prstGeom prst="rect">
            <a:avLst/>
          </a:prstGeom>
          <a:solidFill>
            <a:srgbClr val="28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33472" y="1691640"/>
            <a:ext cx="237744" cy="237744"/>
          </a:xfrm>
          <a:prstGeom prst="ellipse">
            <a:avLst/>
          </a:prstGeom>
          <a:solidFill>
            <a:srgbClr val="00B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828800" cy="347472"/>
          </a:xfrm>
          <a:prstGeom prst="roundRect">
            <a:avLst/>
          </a:prstGeom>
          <a:solidFill>
            <a:srgbClr val="00B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A0F1E"/>
                </a:solidFill>
                <a:latin typeface="Calibri"/>
              </a:defRPr>
            </a:pPr>
            <a:r>
              <a:t>MONTH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155448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F7FA"/>
                </a:solidFill>
                <a:latin typeface="Calibri"/>
              </a:defRPr>
            </a:pPr>
            <a:r>
              <a:t>Requirements Baseline Signed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1901952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C9BB4"/>
                </a:solidFill>
                <a:latin typeface="Calibri"/>
              </a:defRPr>
            </a:pPr>
            <a:r>
              <a:t>All stakeholder groups sign off on SRS document</a:t>
            </a:r>
          </a:p>
        </p:txBody>
      </p:sp>
      <p:sp>
        <p:nvSpPr>
          <p:cNvPr id="9" name="Oval 8"/>
          <p:cNvSpPr/>
          <p:nvPr/>
        </p:nvSpPr>
        <p:spPr>
          <a:xfrm>
            <a:off x="2633472" y="2697480"/>
            <a:ext cx="237744" cy="237744"/>
          </a:xfrm>
          <a:prstGeom prst="ellipse">
            <a:avLst/>
          </a:prstGeom>
          <a:solidFill>
            <a:srgbClr val="52A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2633472"/>
            <a:ext cx="1828800" cy="347472"/>
          </a:xfrm>
          <a:prstGeom prst="roundRect">
            <a:avLst/>
          </a:prstGeom>
          <a:solidFill>
            <a:srgbClr val="52A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A0F1E"/>
                </a:solidFill>
                <a:latin typeface="Calibri"/>
              </a:defRPr>
            </a:pPr>
            <a:r>
              <a:t>MONTH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56032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F7FA"/>
                </a:solidFill>
                <a:latin typeface="Calibri"/>
              </a:defRPr>
            </a:pPr>
            <a:r>
              <a:t>Design Complete &amp; Approved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2907792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C9BB4"/>
                </a:solidFill>
                <a:latin typeface="Calibri"/>
              </a:defRPr>
            </a:pPr>
            <a:r>
              <a:t>Architecture, DB, UI, integration designs reviewed &amp; approved</a:t>
            </a:r>
          </a:p>
        </p:txBody>
      </p:sp>
      <p:sp>
        <p:nvSpPr>
          <p:cNvPr id="13" name="Oval 12"/>
          <p:cNvSpPr/>
          <p:nvPr/>
        </p:nvSpPr>
        <p:spPr>
          <a:xfrm>
            <a:off x="2633472" y="3703320"/>
            <a:ext cx="237744" cy="237744"/>
          </a:xfrm>
          <a:prstGeom prst="ellipse">
            <a:avLst/>
          </a:prstGeom>
          <a:solidFill>
            <a:srgbClr val="48C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8640" y="3639312"/>
            <a:ext cx="1828800" cy="347472"/>
          </a:xfrm>
          <a:prstGeom prst="roundRect">
            <a:avLst/>
          </a:prstGeom>
          <a:solidFill>
            <a:srgbClr val="48C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A0F1E"/>
                </a:solidFill>
                <a:latin typeface="Calibri"/>
              </a:defRPr>
            </a:pPr>
            <a:r>
              <a:t>MONTH 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356616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F7FA"/>
                </a:solidFill>
                <a:latin typeface="Calibri"/>
              </a:defRPr>
            </a:pPr>
            <a:r>
              <a:t>Core Functionality Demo (Alpha)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3913632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C9BB4"/>
                </a:solidFill>
                <a:latin typeface="Calibri"/>
              </a:defRPr>
            </a:pPr>
            <a:r>
              <a:t>All 9 features demonstrable; unit tests &gt;= 80% coverage</a:t>
            </a:r>
          </a:p>
        </p:txBody>
      </p:sp>
      <p:sp>
        <p:nvSpPr>
          <p:cNvPr id="17" name="Oval 16"/>
          <p:cNvSpPr/>
          <p:nvPr/>
        </p:nvSpPr>
        <p:spPr>
          <a:xfrm>
            <a:off x="2633472" y="4709160"/>
            <a:ext cx="237744" cy="237744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48640" y="4645152"/>
            <a:ext cx="1828800" cy="347472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A0F1E"/>
                </a:solidFill>
                <a:latin typeface="Calibri"/>
              </a:defRPr>
            </a:pPr>
            <a:r>
              <a:t>MONTH 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45720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F7FA"/>
                </a:solidFill>
                <a:latin typeface="Calibri"/>
              </a:defRPr>
            </a:pPr>
            <a:r>
              <a:t>UAT Pass &amp; Go-Live Readiness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4919472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C9BB4"/>
                </a:solidFill>
                <a:latin typeface="Calibri"/>
              </a:defRPr>
            </a:pPr>
            <a:r>
              <a:t>UAT sign-off from all 3 user groups; production env ready</a:t>
            </a:r>
          </a:p>
        </p:txBody>
      </p:sp>
      <p:sp>
        <p:nvSpPr>
          <p:cNvPr id="21" name="Oval 20"/>
          <p:cNvSpPr/>
          <p:nvPr/>
        </p:nvSpPr>
        <p:spPr>
          <a:xfrm>
            <a:off x="2633472" y="5715000"/>
            <a:ext cx="237744" cy="237744"/>
          </a:xfrm>
          <a:prstGeom prst="ellipse">
            <a:avLst/>
          </a:prstGeom>
          <a:solidFill>
            <a:srgbClr val="E8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8640" y="5650992"/>
            <a:ext cx="1828800" cy="347472"/>
          </a:xfrm>
          <a:prstGeom prst="roundRect">
            <a:avLst/>
          </a:prstGeom>
          <a:solidFill>
            <a:srgbClr val="E8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A0F1E"/>
                </a:solidFill>
                <a:latin typeface="Calibri"/>
              </a:defRPr>
            </a:pPr>
            <a:r>
              <a:t>MONTH 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557784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F7FA"/>
                </a:solidFill>
                <a:latin typeface="Calibri"/>
              </a:defRPr>
            </a:pPr>
            <a:r>
              <a:t>System Live &amp; Project Closure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0" y="5925312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C9BB4"/>
                </a:solidFill>
                <a:latin typeface="Calibri"/>
              </a:defRPr>
            </a:pPr>
            <a:r>
              <a:t>SPMS in production; zero critical bugs; closure report approved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C9BB4"/>
                </a:solidFill>
                <a:latin typeface="Calibri"/>
              </a:defRPr>
            </a:pPr>
            <a:r>
              <a:t>9/13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2011680" cy="292608"/>
          </a:xfrm>
          <a:prstGeom prst="roundRect">
            <a:avLst/>
          </a:prstGeom>
          <a:solidFill>
            <a:srgbClr val="009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5F7FA"/>
                </a:solidFill>
                <a:latin typeface="Calibri"/>
              </a:defRPr>
            </a:pPr>
            <a:r>
              <a:t>SECTION 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5F7FA"/>
                </a:solidFill>
                <a:latin typeface="Calibri"/>
              </a:defRPr>
            </a:pPr>
            <a:r>
              <a:t>Risk Register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1828800" cy="38100"/>
          </a:xfrm>
          <a:prstGeom prst="rect">
            <a:avLst/>
          </a:prstGeom>
          <a:solidFill>
            <a:srgbClr val="00B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365760" cy="384048"/>
          </a:xfrm>
          <a:prstGeom prst="rect">
            <a:avLst/>
          </a:prstGeom>
          <a:solidFill>
            <a:srgbClr val="009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/>
          <a:lstStyle/>
          <a:p>
            <a:pPr algn="ctr">
              <a:defRPr sz="1000" b="1">
                <a:solidFill>
                  <a:srgbClr val="F5F7FA"/>
                </a:solidFill>
                <a:latin typeface="Calibri"/>
              </a:defRPr>
            </a:pPr>
            <a:r>
              <a:t>#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828800"/>
            <a:ext cx="2926080" cy="384048"/>
          </a:xfrm>
          <a:prstGeom prst="rect">
            <a:avLst/>
          </a:prstGeom>
          <a:solidFill>
            <a:srgbClr val="009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/>
          <a:lstStyle/>
          <a:p>
            <a:pPr algn="ctr">
              <a:defRPr sz="1000" b="1">
                <a:solidFill>
                  <a:srgbClr val="F5F7FA"/>
                </a:solidFill>
                <a:latin typeface="Calibri"/>
              </a:defRPr>
            </a:pPr>
            <a:r>
              <a:t>Risk Description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0" y="1828800"/>
            <a:ext cx="822960" cy="384048"/>
          </a:xfrm>
          <a:prstGeom prst="rect">
            <a:avLst/>
          </a:prstGeom>
          <a:solidFill>
            <a:srgbClr val="009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/>
          <a:lstStyle/>
          <a:p>
            <a:pPr algn="ctr">
              <a:defRPr sz="1000" b="1">
                <a:solidFill>
                  <a:srgbClr val="F5F7FA"/>
                </a:solidFill>
                <a:latin typeface="Calibri"/>
              </a:defRPr>
            </a:pPr>
            <a:r>
              <a:t>Prob.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1828800"/>
            <a:ext cx="822960" cy="384048"/>
          </a:xfrm>
          <a:prstGeom prst="rect">
            <a:avLst/>
          </a:prstGeom>
          <a:solidFill>
            <a:srgbClr val="009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/>
          <a:lstStyle/>
          <a:p>
            <a:pPr algn="ctr">
              <a:defRPr sz="1000" b="1">
                <a:solidFill>
                  <a:srgbClr val="F5F7FA"/>
                </a:solidFill>
                <a:latin typeface="Calibri"/>
              </a:defRPr>
            </a:pPr>
            <a:r>
              <a:t>Impact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0" y="1828800"/>
            <a:ext cx="6492240" cy="384048"/>
          </a:xfrm>
          <a:prstGeom prst="rect">
            <a:avLst/>
          </a:prstGeom>
          <a:solidFill>
            <a:srgbClr val="009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/>
          <a:lstStyle/>
          <a:p>
            <a:pPr algn="ctr">
              <a:defRPr sz="1000" b="1">
                <a:solidFill>
                  <a:srgbClr val="F5F7FA"/>
                </a:solidFill>
                <a:latin typeface="Calibri"/>
              </a:defRPr>
            </a:pPr>
            <a:r>
              <a:t>Mitigation Strategy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267712"/>
            <a:ext cx="365760" cy="658368"/>
          </a:xfrm>
          <a:prstGeom prst="rect">
            <a:avLst/>
          </a:prstGeom>
          <a:solidFill>
            <a:srgbClr val="12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/>
          <a:lstStyle/>
          <a:p>
            <a:pPr algn="ctr">
              <a:defRPr sz="1000" b="1">
                <a:solidFill>
                  <a:srgbClr val="00BCB4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267712"/>
            <a:ext cx="2926080" cy="658368"/>
          </a:xfrm>
          <a:prstGeom prst="rect">
            <a:avLst/>
          </a:prstGeom>
          <a:solidFill>
            <a:srgbClr val="12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/>
          <a:lstStyle/>
          <a:p>
            <a:pPr algn="ctr">
              <a:defRPr sz="1000">
                <a:solidFill>
                  <a:srgbClr val="C8D2E1"/>
                </a:solidFill>
                <a:latin typeface="Calibri"/>
              </a:defRPr>
            </a:pPr>
            <a:r>
              <a:t>Lecturers unavailable during semester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0" y="2267712"/>
            <a:ext cx="822960" cy="658368"/>
          </a:xfrm>
          <a:prstGeom prst="rect">
            <a:avLst/>
          </a:prstGeom>
          <a:solidFill>
            <a:srgbClr val="12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/>
          <a:lstStyle/>
          <a:p>
            <a:pPr algn="ctr">
              <a:defRPr sz="1000" b="1">
                <a:solidFill>
                  <a:srgbClr val="E85D5D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2267712"/>
            <a:ext cx="822960" cy="658368"/>
          </a:xfrm>
          <a:prstGeom prst="rect">
            <a:avLst/>
          </a:prstGeom>
          <a:solidFill>
            <a:srgbClr val="12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/>
          <a:lstStyle/>
          <a:p>
            <a:pPr algn="ctr">
              <a:defRPr sz="1000" b="1">
                <a:solidFill>
                  <a:srgbClr val="E85D5D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0" y="2267712"/>
            <a:ext cx="6492240" cy="658368"/>
          </a:xfrm>
          <a:prstGeom prst="rect">
            <a:avLst/>
          </a:prstGeom>
          <a:solidFill>
            <a:srgbClr val="12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/>
          <a:lstStyle/>
          <a:p>
            <a:pPr algn="ctr">
              <a:defRPr sz="1000">
                <a:solidFill>
                  <a:srgbClr val="C8D2E1"/>
                </a:solidFill>
                <a:latin typeface="Calibri"/>
              </a:defRPr>
            </a:pPr>
            <a:r>
              <a:t>Schedule workshops during breaks; assign proxy reps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017520"/>
            <a:ext cx="365760" cy="658368"/>
          </a:xfrm>
          <a:prstGeom prst="rect">
            <a:avLst/>
          </a:prstGeom>
          <a:solidFill>
            <a:srgbClr val="0C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/>
          <a:lstStyle/>
          <a:p>
            <a:pPr algn="ctr">
              <a:defRPr sz="1000" b="1">
                <a:solidFill>
                  <a:srgbClr val="00BCB4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3017520"/>
            <a:ext cx="2926080" cy="658368"/>
          </a:xfrm>
          <a:prstGeom prst="rect">
            <a:avLst/>
          </a:prstGeom>
          <a:solidFill>
            <a:srgbClr val="0C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/>
          <a:lstStyle/>
          <a:p>
            <a:pPr algn="ctr">
              <a:defRPr sz="1000">
                <a:solidFill>
                  <a:srgbClr val="C8D2E1"/>
                </a:solidFill>
                <a:latin typeface="Calibri"/>
              </a:defRPr>
            </a:pPr>
            <a:r>
              <a:t>ACMIS integration API changes/delays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0" y="3017520"/>
            <a:ext cx="822960" cy="658368"/>
          </a:xfrm>
          <a:prstGeom prst="rect">
            <a:avLst/>
          </a:prstGeom>
          <a:solidFill>
            <a:srgbClr val="0C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/>
          <a:lstStyle/>
          <a:p>
            <a:pPr algn="ctr">
              <a:defRPr sz="1000" b="1">
                <a:solidFill>
                  <a:srgbClr val="D4AF37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63440" y="3017520"/>
            <a:ext cx="822960" cy="658368"/>
          </a:xfrm>
          <a:prstGeom prst="rect">
            <a:avLst/>
          </a:prstGeom>
          <a:solidFill>
            <a:srgbClr val="0C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/>
          <a:lstStyle/>
          <a:p>
            <a:pPr algn="ctr">
              <a:defRPr sz="1000" b="1">
                <a:solidFill>
                  <a:srgbClr val="E85D5D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0" y="3017520"/>
            <a:ext cx="6492240" cy="658368"/>
          </a:xfrm>
          <a:prstGeom prst="rect">
            <a:avLst/>
          </a:prstGeom>
          <a:solidFill>
            <a:srgbClr val="0C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/>
          <a:lstStyle/>
          <a:p>
            <a:pPr algn="ctr">
              <a:defRPr sz="1000">
                <a:solidFill>
                  <a:srgbClr val="C8D2E1"/>
                </a:solidFill>
                <a:latin typeface="Calibri"/>
              </a:defRPr>
            </a:pPr>
            <a:r>
              <a:t>Early MoU with ICT; adapter layer; mock API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767328"/>
            <a:ext cx="365760" cy="658368"/>
          </a:xfrm>
          <a:prstGeom prst="rect">
            <a:avLst/>
          </a:prstGeom>
          <a:solidFill>
            <a:srgbClr val="12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/>
          <a:lstStyle/>
          <a:p>
            <a:pPr algn="ctr">
              <a:defRPr sz="1000" b="1">
                <a:solidFill>
                  <a:srgbClr val="00BCB4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3767328"/>
            <a:ext cx="2926080" cy="658368"/>
          </a:xfrm>
          <a:prstGeom prst="rect">
            <a:avLst/>
          </a:prstGeom>
          <a:solidFill>
            <a:srgbClr val="12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/>
          <a:lstStyle/>
          <a:p>
            <a:pPr algn="ctr">
              <a:defRPr sz="1000">
                <a:solidFill>
                  <a:srgbClr val="C8D2E1"/>
                </a:solidFill>
                <a:latin typeface="Calibri"/>
              </a:defRPr>
            </a:pPr>
            <a:r>
              <a:t>Scope creep from stakeholders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0" y="3767328"/>
            <a:ext cx="822960" cy="658368"/>
          </a:xfrm>
          <a:prstGeom prst="rect">
            <a:avLst/>
          </a:prstGeom>
          <a:solidFill>
            <a:srgbClr val="12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/>
          <a:lstStyle/>
          <a:p>
            <a:pPr algn="ctr">
              <a:defRPr sz="1000" b="1">
                <a:solidFill>
                  <a:srgbClr val="E85D5D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63440" y="3767328"/>
            <a:ext cx="822960" cy="658368"/>
          </a:xfrm>
          <a:prstGeom prst="rect">
            <a:avLst/>
          </a:prstGeom>
          <a:solidFill>
            <a:srgbClr val="12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/>
          <a:lstStyle/>
          <a:p>
            <a:pPr algn="ctr">
              <a:defRPr sz="1000" b="1">
                <a:solidFill>
                  <a:srgbClr val="D4AF37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0" y="3767328"/>
            <a:ext cx="6492240" cy="658368"/>
          </a:xfrm>
          <a:prstGeom prst="rect">
            <a:avLst/>
          </a:prstGeom>
          <a:solidFill>
            <a:srgbClr val="12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/>
          <a:lstStyle/>
          <a:p>
            <a:pPr algn="ctr">
              <a:defRPr sz="1000">
                <a:solidFill>
                  <a:srgbClr val="C8D2E1"/>
                </a:solidFill>
                <a:latin typeface="Calibri"/>
              </a:defRPr>
            </a:pPr>
            <a:r>
              <a:t>Strict CCB; MoSCoW prioritization; scope freeze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517136"/>
            <a:ext cx="365760" cy="658368"/>
          </a:xfrm>
          <a:prstGeom prst="rect">
            <a:avLst/>
          </a:prstGeom>
          <a:solidFill>
            <a:srgbClr val="0C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/>
          <a:lstStyle/>
          <a:p>
            <a:pPr algn="ctr">
              <a:defRPr sz="1000" b="1">
                <a:solidFill>
                  <a:srgbClr val="00BCB4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" y="4517136"/>
            <a:ext cx="2926080" cy="658368"/>
          </a:xfrm>
          <a:prstGeom prst="rect">
            <a:avLst/>
          </a:prstGeom>
          <a:solidFill>
            <a:srgbClr val="0C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/>
          <a:lstStyle/>
          <a:p>
            <a:pPr algn="ctr">
              <a:defRPr sz="1000">
                <a:solidFill>
                  <a:srgbClr val="C8D2E1"/>
                </a:solidFill>
                <a:latin typeface="Calibri"/>
              </a:defRPr>
            </a:pPr>
            <a:r>
              <a:t>Resistance to change from senior staff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40480" y="4517136"/>
            <a:ext cx="822960" cy="658368"/>
          </a:xfrm>
          <a:prstGeom prst="rect">
            <a:avLst/>
          </a:prstGeom>
          <a:solidFill>
            <a:srgbClr val="0C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/>
          <a:lstStyle/>
          <a:p>
            <a:pPr algn="ctr">
              <a:defRPr sz="1000" b="1">
                <a:solidFill>
                  <a:srgbClr val="E85D5D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63440" y="4517136"/>
            <a:ext cx="822960" cy="658368"/>
          </a:xfrm>
          <a:prstGeom prst="rect">
            <a:avLst/>
          </a:prstGeom>
          <a:solidFill>
            <a:srgbClr val="0C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/>
          <a:lstStyle/>
          <a:p>
            <a:pPr algn="ctr">
              <a:defRPr sz="1000" b="1">
                <a:solidFill>
                  <a:srgbClr val="D4AF37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0" y="4517136"/>
            <a:ext cx="6492240" cy="658368"/>
          </a:xfrm>
          <a:prstGeom prst="rect">
            <a:avLst/>
          </a:prstGeom>
          <a:solidFill>
            <a:srgbClr val="0C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/>
          <a:lstStyle/>
          <a:p>
            <a:pPr algn="ctr">
              <a:defRPr sz="1000">
                <a:solidFill>
                  <a:srgbClr val="C8D2E1"/>
                </a:solidFill>
                <a:latin typeface="Calibri"/>
              </a:defRPr>
            </a:pPr>
            <a:r>
              <a:t>Early engagement; champions; mandatory training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266944"/>
            <a:ext cx="365760" cy="658368"/>
          </a:xfrm>
          <a:prstGeom prst="rect">
            <a:avLst/>
          </a:prstGeom>
          <a:solidFill>
            <a:srgbClr val="12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/>
          <a:lstStyle/>
          <a:p>
            <a:pPr algn="ctr">
              <a:defRPr sz="1000" b="1">
                <a:solidFill>
                  <a:srgbClr val="00BCB4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" y="5266944"/>
            <a:ext cx="2926080" cy="658368"/>
          </a:xfrm>
          <a:prstGeom prst="rect">
            <a:avLst/>
          </a:prstGeom>
          <a:solidFill>
            <a:srgbClr val="12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/>
          <a:lstStyle/>
          <a:p>
            <a:pPr algn="ctr">
              <a:defRPr sz="1000">
                <a:solidFill>
                  <a:srgbClr val="C8D2E1"/>
                </a:solidFill>
                <a:latin typeface="Calibri"/>
              </a:defRPr>
            </a:pPr>
            <a:r>
              <a:t>Budget overrun from complexity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840480" y="5266944"/>
            <a:ext cx="822960" cy="658368"/>
          </a:xfrm>
          <a:prstGeom prst="rect">
            <a:avLst/>
          </a:prstGeom>
          <a:solidFill>
            <a:srgbClr val="12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/>
          <a:lstStyle/>
          <a:p>
            <a:pPr algn="ctr">
              <a:defRPr sz="1000" b="1">
                <a:solidFill>
                  <a:srgbClr val="D4AF37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63440" y="5266944"/>
            <a:ext cx="822960" cy="658368"/>
          </a:xfrm>
          <a:prstGeom prst="rect">
            <a:avLst/>
          </a:prstGeom>
          <a:solidFill>
            <a:srgbClr val="12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/>
          <a:lstStyle/>
          <a:p>
            <a:pPr algn="ctr">
              <a:defRPr sz="1000" b="1">
                <a:solidFill>
                  <a:srgbClr val="E85D5D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0" y="5266944"/>
            <a:ext cx="6492240" cy="658368"/>
          </a:xfrm>
          <a:prstGeom prst="rect">
            <a:avLst/>
          </a:prstGeom>
          <a:solidFill>
            <a:srgbClr val="12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/>
          <a:lstStyle/>
          <a:p>
            <a:pPr algn="ctr">
              <a:defRPr sz="1000">
                <a:solidFill>
                  <a:srgbClr val="C8D2E1"/>
                </a:solidFill>
                <a:latin typeface="Calibri"/>
              </a:defRPr>
            </a:pPr>
            <a:r>
              <a:t>Monthly tracking; 10% contingency; Phase 2 deferral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C9BB4"/>
                </a:solidFill>
                <a:latin typeface="Calibri"/>
              </a:defRPr>
            </a:pPr>
            <a:r>
              <a:t>10/13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5F7FA"/>
                </a:solidFill>
                <a:latin typeface="Calibri"/>
              </a:defRPr>
            </a:pPr>
            <a:r>
              <a:t>Communication Plan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828800" cy="38100"/>
          </a:xfrm>
          <a:prstGeom prst="rect">
            <a:avLst/>
          </a:prstGeom>
          <a:solidFill>
            <a:srgbClr val="00B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2560320" cy="384048"/>
          </a:xfrm>
          <a:prstGeom prst="rect">
            <a:avLst/>
          </a:prstGeom>
          <a:solidFill>
            <a:srgbClr val="009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/>
          <a:lstStyle/>
          <a:p>
            <a:pPr algn="ctr">
              <a:defRPr sz="1100" b="1">
                <a:solidFill>
                  <a:srgbClr val="F5F7FA"/>
                </a:solidFill>
                <a:latin typeface="Calibri"/>
              </a:defRPr>
            </a:pPr>
            <a:r>
              <a:t>Audience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3108960" y="1371600"/>
            <a:ext cx="1463040" cy="384048"/>
          </a:xfrm>
          <a:prstGeom prst="rect">
            <a:avLst/>
          </a:prstGeom>
          <a:solidFill>
            <a:srgbClr val="009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/>
          <a:lstStyle/>
          <a:p>
            <a:pPr algn="ctr">
              <a:defRPr sz="1100" b="1">
                <a:solidFill>
                  <a:srgbClr val="F5F7FA"/>
                </a:solidFill>
                <a:latin typeface="Calibri"/>
              </a:defRPr>
            </a:pPr>
            <a:r>
              <a:t>Frequency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1371600"/>
            <a:ext cx="2560320" cy="384048"/>
          </a:xfrm>
          <a:prstGeom prst="rect">
            <a:avLst/>
          </a:prstGeom>
          <a:solidFill>
            <a:srgbClr val="009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/>
          <a:lstStyle/>
          <a:p>
            <a:pPr algn="ctr">
              <a:defRPr sz="1100" b="1">
                <a:solidFill>
                  <a:srgbClr val="F5F7FA"/>
                </a:solidFill>
                <a:latin typeface="Calibri"/>
              </a:defRPr>
            </a:pPr>
            <a:r>
              <a:t>Channel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0" y="1371600"/>
            <a:ext cx="1280160" cy="384048"/>
          </a:xfrm>
          <a:prstGeom prst="rect">
            <a:avLst/>
          </a:prstGeom>
          <a:solidFill>
            <a:srgbClr val="009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/>
          <a:lstStyle/>
          <a:p>
            <a:pPr algn="ctr">
              <a:defRPr sz="1100" b="1">
                <a:solidFill>
                  <a:srgbClr val="F5F7FA"/>
                </a:solidFill>
                <a:latin typeface="Calibri"/>
              </a:defRPr>
            </a:pPr>
            <a:r>
              <a:t>Owner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0" y="1371600"/>
            <a:ext cx="3383280" cy="384048"/>
          </a:xfrm>
          <a:prstGeom prst="rect">
            <a:avLst/>
          </a:prstGeom>
          <a:solidFill>
            <a:srgbClr val="009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/>
          <a:lstStyle/>
          <a:p>
            <a:pPr algn="ctr">
              <a:defRPr sz="1100" b="1">
                <a:solidFill>
                  <a:srgbClr val="F5F7FA"/>
                </a:solidFill>
                <a:latin typeface="Calibri"/>
              </a:defRPr>
            </a:pPr>
            <a:r>
              <a:t>Purpose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10512"/>
            <a:ext cx="2560320" cy="530352"/>
          </a:xfrm>
          <a:prstGeom prst="rect">
            <a:avLst/>
          </a:prstGeom>
          <a:solidFill>
            <a:srgbClr val="12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/>
          <a:lstStyle/>
          <a:p>
            <a:pPr algn="ctr">
              <a:defRPr sz="1000" b="1">
                <a:solidFill>
                  <a:srgbClr val="00BCB4"/>
                </a:solidFill>
                <a:latin typeface="Calibri"/>
              </a:defRPr>
            </a:pPr>
            <a:r>
              <a:t>Sponsor / Deputy Principal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08960" y="1810512"/>
            <a:ext cx="1463040" cy="530352"/>
          </a:xfrm>
          <a:prstGeom prst="rect">
            <a:avLst/>
          </a:prstGeom>
          <a:solidFill>
            <a:srgbClr val="12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/>
          <a:lstStyle/>
          <a:p>
            <a:pPr algn="ctr">
              <a:defRPr sz="1000" b="0">
                <a:solidFill>
                  <a:srgbClr val="C8D2E1"/>
                </a:solidFill>
                <a:latin typeface="Calibri"/>
              </a:defRPr>
            </a:pPr>
            <a:r>
              <a:t>Bi-weekly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810512"/>
            <a:ext cx="2560320" cy="530352"/>
          </a:xfrm>
          <a:prstGeom prst="rect">
            <a:avLst/>
          </a:prstGeom>
          <a:solidFill>
            <a:srgbClr val="12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/>
          <a:lstStyle/>
          <a:p>
            <a:pPr algn="ctr">
              <a:defRPr sz="1000" b="0">
                <a:solidFill>
                  <a:srgbClr val="C8D2E1"/>
                </a:solidFill>
                <a:latin typeface="Calibri"/>
              </a:defRPr>
            </a:pPr>
            <a:r>
              <a:t>Face-to-face + email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1810512"/>
            <a:ext cx="1280160" cy="530352"/>
          </a:xfrm>
          <a:prstGeom prst="rect">
            <a:avLst/>
          </a:prstGeom>
          <a:solidFill>
            <a:srgbClr val="12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/>
          <a:lstStyle/>
          <a:p>
            <a:pPr algn="ctr">
              <a:defRPr sz="1000" b="0">
                <a:solidFill>
                  <a:srgbClr val="C8D2E1"/>
                </a:solidFill>
                <a:latin typeface="Calibri"/>
              </a:defRPr>
            </a:pPr>
            <a:r>
              <a:t>PM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0" y="1810512"/>
            <a:ext cx="3383280" cy="530352"/>
          </a:xfrm>
          <a:prstGeom prst="rect">
            <a:avLst/>
          </a:prstGeom>
          <a:solidFill>
            <a:srgbClr val="12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/>
          <a:lstStyle/>
          <a:p>
            <a:pPr algn="ctr">
              <a:defRPr sz="1000" b="0">
                <a:solidFill>
                  <a:srgbClr val="C8D2E1"/>
                </a:solidFill>
                <a:latin typeface="Calibri"/>
              </a:defRPr>
            </a:pPr>
            <a:r>
              <a:t>Progress &amp; escalations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432304"/>
            <a:ext cx="2560320" cy="530352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/>
          <a:lstStyle/>
          <a:p>
            <a:pPr algn="ctr">
              <a:defRPr sz="1000" b="1">
                <a:solidFill>
                  <a:srgbClr val="00BCB4"/>
                </a:solidFill>
                <a:latin typeface="Calibri"/>
              </a:defRPr>
            </a:pPr>
            <a:r>
              <a:t>Development Team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08960" y="2432304"/>
            <a:ext cx="1463040" cy="530352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/>
          <a:lstStyle/>
          <a:p>
            <a:pPr algn="ctr">
              <a:defRPr sz="1000" b="0">
                <a:solidFill>
                  <a:srgbClr val="C8D2E1"/>
                </a:solidFill>
                <a:latin typeface="Calibri"/>
              </a:defRPr>
            </a:pPr>
            <a:r>
              <a:t>Daily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0" y="2432304"/>
            <a:ext cx="2560320" cy="530352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/>
          <a:lstStyle/>
          <a:p>
            <a:pPr algn="ctr">
              <a:defRPr sz="1000" b="0">
                <a:solidFill>
                  <a:srgbClr val="C8D2E1"/>
                </a:solidFill>
                <a:latin typeface="Calibri"/>
              </a:defRPr>
            </a:pPr>
            <a:r>
              <a:t>Stand-up + Slack/Teams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0" y="2432304"/>
            <a:ext cx="1280160" cy="530352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/>
          <a:lstStyle/>
          <a:p>
            <a:pPr algn="ctr">
              <a:defRPr sz="1000" b="0">
                <a:solidFill>
                  <a:srgbClr val="C8D2E1"/>
                </a:solidFill>
                <a:latin typeface="Calibri"/>
              </a:defRPr>
            </a:pPr>
            <a:r>
              <a:t>PM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0" y="2432304"/>
            <a:ext cx="3383280" cy="530352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/>
          <a:lstStyle/>
          <a:p>
            <a:pPr algn="ctr">
              <a:defRPr sz="1000" b="0">
                <a:solidFill>
                  <a:srgbClr val="C8D2E1"/>
                </a:solidFill>
                <a:latin typeface="Calibri"/>
              </a:defRPr>
            </a:pPr>
            <a:r>
              <a:t>Blockers &amp; sprint progress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054096"/>
            <a:ext cx="2560320" cy="530352"/>
          </a:xfrm>
          <a:prstGeom prst="rect">
            <a:avLst/>
          </a:prstGeom>
          <a:solidFill>
            <a:srgbClr val="12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/>
          <a:lstStyle/>
          <a:p>
            <a:pPr algn="ctr">
              <a:defRPr sz="1000" b="1">
                <a:solidFill>
                  <a:srgbClr val="00BCB4"/>
                </a:solidFill>
                <a:latin typeface="Calibri"/>
              </a:defRPr>
            </a:pPr>
            <a:r>
              <a:t>Department Heads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08960" y="3054096"/>
            <a:ext cx="1463040" cy="530352"/>
          </a:xfrm>
          <a:prstGeom prst="rect">
            <a:avLst/>
          </a:prstGeom>
          <a:solidFill>
            <a:srgbClr val="12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/>
          <a:lstStyle/>
          <a:p>
            <a:pPr algn="ctr">
              <a:defRPr sz="1000" b="0">
                <a:solidFill>
                  <a:srgbClr val="C8D2E1"/>
                </a:solidFill>
                <a:latin typeface="Calibri"/>
              </a:defRPr>
            </a:pPr>
            <a:r>
              <a:t>Monthly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0" y="3054096"/>
            <a:ext cx="2560320" cy="530352"/>
          </a:xfrm>
          <a:prstGeom prst="rect">
            <a:avLst/>
          </a:prstGeom>
          <a:solidFill>
            <a:srgbClr val="12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/>
          <a:lstStyle/>
          <a:p>
            <a:pPr algn="ctr">
              <a:defRPr sz="1000" b="0">
                <a:solidFill>
                  <a:srgbClr val="C8D2E1"/>
                </a:solidFill>
                <a:latin typeface="Calibri"/>
              </a:defRPr>
            </a:pPr>
            <a:r>
              <a:t>Email + dept meetings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2320" y="3054096"/>
            <a:ext cx="1280160" cy="530352"/>
          </a:xfrm>
          <a:prstGeom prst="rect">
            <a:avLst/>
          </a:prstGeom>
          <a:solidFill>
            <a:srgbClr val="12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/>
          <a:lstStyle/>
          <a:p>
            <a:pPr algn="ctr">
              <a:defRPr sz="1000" b="0">
                <a:solidFill>
                  <a:srgbClr val="C8D2E1"/>
                </a:solidFill>
                <a:latin typeface="Calibri"/>
              </a:defRPr>
            </a:pPr>
            <a:r>
              <a:t>PM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12480" y="3054096"/>
            <a:ext cx="3383280" cy="530352"/>
          </a:xfrm>
          <a:prstGeom prst="rect">
            <a:avLst/>
          </a:prstGeom>
          <a:solidFill>
            <a:srgbClr val="12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/>
          <a:lstStyle/>
          <a:p>
            <a:pPr algn="ctr">
              <a:defRPr sz="1000" b="0">
                <a:solidFill>
                  <a:srgbClr val="C8D2E1"/>
                </a:solidFill>
                <a:latin typeface="Calibri"/>
              </a:defRPr>
            </a:pPr>
            <a:r>
              <a:t>Status &amp; resource requests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675887"/>
            <a:ext cx="2560320" cy="530352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/>
          <a:lstStyle/>
          <a:p>
            <a:pPr algn="ctr">
              <a:defRPr sz="1000" b="1">
                <a:solidFill>
                  <a:srgbClr val="00BCB4"/>
                </a:solidFill>
                <a:latin typeface="Calibri"/>
              </a:defRPr>
            </a:pPr>
            <a:r>
              <a:t>Academic Staff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08960" y="3675887"/>
            <a:ext cx="1463040" cy="530352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/>
          <a:lstStyle/>
          <a:p>
            <a:pPr algn="ctr">
              <a:defRPr sz="1000" b="0">
                <a:solidFill>
                  <a:srgbClr val="C8D2E1"/>
                </a:solidFill>
                <a:latin typeface="Calibri"/>
              </a:defRPr>
            </a:pPr>
            <a:r>
              <a:t>Monthly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0" y="3675887"/>
            <a:ext cx="2560320" cy="530352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/>
          <a:lstStyle/>
          <a:p>
            <a:pPr algn="ctr">
              <a:defRPr sz="1000" b="0">
                <a:solidFill>
                  <a:srgbClr val="C8D2E1"/>
                </a:solidFill>
                <a:latin typeface="Calibri"/>
              </a:defRPr>
            </a:pPr>
            <a:r>
              <a:t>Email + portal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0" y="3675887"/>
            <a:ext cx="1280160" cy="530352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/>
          <a:lstStyle/>
          <a:p>
            <a:pPr algn="ctr">
              <a:defRPr sz="1000" b="0">
                <a:solidFill>
                  <a:srgbClr val="C8D2E1"/>
                </a:solidFill>
                <a:latin typeface="Calibri"/>
              </a:defRPr>
            </a:pPr>
            <a:r>
              <a:t>Coordinator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12480" y="3675887"/>
            <a:ext cx="3383280" cy="530352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/>
          <a:lstStyle/>
          <a:p>
            <a:pPr algn="ctr">
              <a:defRPr sz="1000" b="0">
                <a:solidFill>
                  <a:srgbClr val="C8D2E1"/>
                </a:solidFill>
                <a:latin typeface="Calibri"/>
              </a:defRPr>
            </a:pPr>
            <a:r>
              <a:t>Demos &amp; training schedule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297680"/>
            <a:ext cx="2560320" cy="530352"/>
          </a:xfrm>
          <a:prstGeom prst="rect">
            <a:avLst/>
          </a:prstGeom>
          <a:solidFill>
            <a:srgbClr val="12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/>
          <a:lstStyle/>
          <a:p>
            <a:pPr algn="ctr">
              <a:defRPr sz="1000" b="1">
                <a:solidFill>
                  <a:srgbClr val="00BCB4"/>
                </a:solidFill>
                <a:latin typeface="Calibri"/>
              </a:defRPr>
            </a:pPr>
            <a:r>
              <a:t>Students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08960" y="4297680"/>
            <a:ext cx="1463040" cy="530352"/>
          </a:xfrm>
          <a:prstGeom prst="rect">
            <a:avLst/>
          </a:prstGeom>
          <a:solidFill>
            <a:srgbClr val="12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/>
          <a:lstStyle/>
          <a:p>
            <a:pPr algn="ctr">
              <a:defRPr sz="1000" b="0">
                <a:solidFill>
                  <a:srgbClr val="C8D2E1"/>
                </a:solidFill>
                <a:latin typeface="Calibri"/>
              </a:defRPr>
            </a:pPr>
            <a:r>
              <a:t>Bi-weekly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0" y="4297680"/>
            <a:ext cx="2560320" cy="530352"/>
          </a:xfrm>
          <a:prstGeom prst="rect">
            <a:avLst/>
          </a:prstGeom>
          <a:solidFill>
            <a:srgbClr val="12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/>
          <a:lstStyle/>
          <a:p>
            <a:pPr algn="ctr">
              <a:defRPr sz="1000" b="0">
                <a:solidFill>
                  <a:srgbClr val="C8D2E1"/>
                </a:solidFill>
                <a:latin typeface="Calibri"/>
              </a:defRPr>
            </a:pPr>
            <a:r>
              <a:t>Portal + social media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32320" y="4297680"/>
            <a:ext cx="1280160" cy="530352"/>
          </a:xfrm>
          <a:prstGeom prst="rect">
            <a:avLst/>
          </a:prstGeom>
          <a:solidFill>
            <a:srgbClr val="12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/>
          <a:lstStyle/>
          <a:p>
            <a:pPr algn="ctr">
              <a:defRPr sz="1000" b="0">
                <a:solidFill>
                  <a:srgbClr val="C8D2E1"/>
                </a:solidFill>
                <a:latin typeface="Calibri"/>
              </a:defRPr>
            </a:pPr>
            <a:r>
              <a:t>Coordinator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412480" y="4297680"/>
            <a:ext cx="3383280" cy="530352"/>
          </a:xfrm>
          <a:prstGeom prst="rect">
            <a:avLst/>
          </a:prstGeom>
          <a:solidFill>
            <a:srgbClr val="12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/>
          <a:lstStyle/>
          <a:p>
            <a:pPr algn="ctr">
              <a:defRPr sz="1000" b="0">
                <a:solidFill>
                  <a:srgbClr val="C8D2E1"/>
                </a:solidFill>
                <a:latin typeface="Calibri"/>
              </a:defRPr>
            </a:pPr>
            <a:r>
              <a:t>Updates &amp; training dates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4919472"/>
            <a:ext cx="2560320" cy="530352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/>
          <a:lstStyle/>
          <a:p>
            <a:pPr algn="ctr">
              <a:defRPr sz="1000" b="1">
                <a:solidFill>
                  <a:srgbClr val="00BCB4"/>
                </a:solidFill>
                <a:latin typeface="Calibri"/>
              </a:defRPr>
            </a:pPr>
            <a:r>
              <a:t>ICT Support Unit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108960" y="4919472"/>
            <a:ext cx="1463040" cy="530352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/>
          <a:lstStyle/>
          <a:p>
            <a:pPr algn="ctr">
              <a:defRPr sz="1000" b="0">
                <a:solidFill>
                  <a:srgbClr val="C8D2E1"/>
                </a:solidFill>
                <a:latin typeface="Calibri"/>
              </a:defRPr>
            </a:pPr>
            <a:r>
              <a:t>Weekly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0" y="4919472"/>
            <a:ext cx="2560320" cy="530352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/>
          <a:lstStyle/>
          <a:p>
            <a:pPr algn="ctr">
              <a:defRPr sz="1000" b="0">
                <a:solidFill>
                  <a:srgbClr val="C8D2E1"/>
                </a:solidFill>
                <a:latin typeface="Calibri"/>
              </a:defRPr>
            </a:pPr>
            <a:r>
              <a:t>Slack + sync meetings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132320" y="4919472"/>
            <a:ext cx="1280160" cy="530352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/>
          <a:lstStyle/>
          <a:p>
            <a:pPr algn="ctr">
              <a:defRPr sz="1000" b="0">
                <a:solidFill>
                  <a:srgbClr val="C8D2E1"/>
                </a:solidFill>
                <a:latin typeface="Calibri"/>
              </a:defRPr>
            </a:pPr>
            <a:r>
              <a:t>Dev Lead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412480" y="4919472"/>
            <a:ext cx="3383280" cy="530352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/>
          <a:lstStyle/>
          <a:p>
            <a:pPr algn="ctr">
              <a:defRPr sz="1000" b="0">
                <a:solidFill>
                  <a:srgbClr val="C8D2E1"/>
                </a:solidFill>
                <a:latin typeface="Calibri"/>
              </a:defRPr>
            </a:pPr>
            <a:r>
              <a:t>Integration &amp; security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5486400"/>
            <a:ext cx="11064240" cy="914400"/>
          </a:xfrm>
          <a:prstGeom prst="roundRect">
            <a:avLst/>
          </a:prstGeom>
          <a:solidFill>
            <a:srgbClr val="12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" y="55778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Calibri"/>
              </a:defRPr>
            </a:pPr>
            <a:r>
              <a:t>Escalation Path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58978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D2E1"/>
                </a:solidFill>
                <a:latin typeface="Calibri"/>
              </a:defRPr>
            </a:pPr>
            <a:r>
              <a:t>Level 1: Dev Lead  &gt;  Project Manager    |    Level 2: PM  &gt;  Sponsor    |    Level 3: Sponsor  &gt;  University Council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C9BB4"/>
                </a:solidFill>
                <a:latin typeface="Calibri"/>
              </a:defRPr>
            </a:pPr>
            <a:r>
              <a:t>11/13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2011680" cy="292608"/>
          </a:xfrm>
          <a:prstGeom prst="roundRect">
            <a:avLst/>
          </a:prstGeom>
          <a:solidFill>
            <a:srgbClr val="009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5F7FA"/>
                </a:solidFill>
                <a:latin typeface="Calibri"/>
              </a:defRPr>
            </a:pPr>
            <a:r>
              <a:t>SECTION 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5F7FA"/>
                </a:solidFill>
                <a:latin typeface="Calibri"/>
              </a:defRPr>
            </a:pPr>
            <a:r>
              <a:t>Recommended Methodology: Hybrid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1828800" cy="38100"/>
          </a:xfrm>
          <a:prstGeom prst="rect">
            <a:avLst/>
          </a:prstGeom>
          <a:solidFill>
            <a:srgbClr val="00B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3520440" cy="2743200"/>
          </a:xfrm>
          <a:prstGeom prst="roundRect">
            <a:avLst/>
          </a:prstGeom>
          <a:solidFill>
            <a:srgbClr val="12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C9BB4"/>
                </a:solidFill>
                <a:latin typeface="Calibri"/>
              </a:defRPr>
            </a:pPr>
            <a:r>
              <a:t>Initiation &gt; Design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80160" y="2377440"/>
            <a:ext cx="2057400" cy="365760"/>
          </a:xfrm>
          <a:prstGeom prst="roundRect">
            <a:avLst/>
          </a:prstGeom>
          <a:solidFill>
            <a:srgbClr val="00B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A0F1E"/>
                </a:solidFill>
                <a:latin typeface="Calibri"/>
              </a:defRPr>
            </a:pPr>
            <a:r>
              <a:t>WATERFALL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8036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39"/>
              </a:spcAft>
              <a:defRPr sz="1200" b="0">
                <a:solidFill>
                  <a:srgbClr val="C8D2E1"/>
                </a:solidFill>
                <a:latin typeface="Calibri"/>
              </a:defRPr>
            </a:pPr>
            <a:r>
              <a:t>  Fixed scope &amp; budget</a:t>
            </a:r>
          </a:p>
          <a:p>
            <a:pPr algn="l">
              <a:spcAft>
                <a:spcPts val="239"/>
              </a:spcAft>
              <a:defRPr sz="1200" b="0">
                <a:solidFill>
                  <a:srgbClr val="C8D2E1"/>
                </a:solidFill>
                <a:latin typeface="Calibri"/>
              </a:defRPr>
            </a:pPr>
            <a:r>
              <a:t>  Compliance requirements</a:t>
            </a:r>
          </a:p>
          <a:p>
            <a:pPr algn="l">
              <a:spcAft>
                <a:spcPts val="239"/>
              </a:spcAft>
              <a:defRPr sz="1200" b="0">
                <a:solidFill>
                  <a:srgbClr val="C8D2E1"/>
                </a:solidFill>
                <a:latin typeface="Calibri"/>
              </a:defRPr>
            </a:pPr>
            <a:r>
              <a:t>  Signed baselines needed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920240"/>
            <a:ext cx="3520440" cy="2743200"/>
          </a:xfrm>
          <a:prstGeom prst="roundRect">
            <a:avLst/>
          </a:prstGeom>
          <a:solidFill>
            <a:srgbClr val="12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201168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C9BB4"/>
                </a:solidFill>
                <a:latin typeface="Calibri"/>
              </a:defRPr>
            </a:pPr>
            <a:r>
              <a:t>Development &gt; Testing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74920" y="2377440"/>
            <a:ext cx="2057400" cy="365760"/>
          </a:xfrm>
          <a:prstGeom prst="roundRect">
            <a:avLst/>
          </a:prstGeom>
          <a:solidFill>
            <a:srgbClr val="48C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A0F1E"/>
                </a:solidFill>
                <a:latin typeface="Calibri"/>
              </a:defRPr>
            </a:pPr>
            <a:r>
              <a:t>AGILE (SCRUM)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88036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39"/>
              </a:spcAft>
              <a:defRPr sz="1200" b="0">
                <a:solidFill>
                  <a:srgbClr val="C8D2E1"/>
                </a:solidFill>
                <a:latin typeface="Calibri"/>
              </a:defRPr>
            </a:pPr>
            <a:r>
              <a:t>  2-week sprints</a:t>
            </a:r>
          </a:p>
          <a:p>
            <a:pPr algn="l">
              <a:spcAft>
                <a:spcPts val="239"/>
              </a:spcAft>
              <a:defRPr sz="1200" b="0">
                <a:solidFill>
                  <a:srgbClr val="C8D2E1"/>
                </a:solidFill>
                <a:latin typeface="Calibri"/>
              </a:defRPr>
            </a:pPr>
            <a:r>
              <a:t>  User feedback loops</a:t>
            </a:r>
          </a:p>
          <a:p>
            <a:pPr algn="l">
              <a:spcAft>
                <a:spcPts val="239"/>
              </a:spcAft>
              <a:defRPr sz="1200" b="0">
                <a:solidFill>
                  <a:srgbClr val="C8D2E1"/>
                </a:solidFill>
                <a:latin typeface="Calibri"/>
              </a:defRPr>
            </a:pPr>
            <a:r>
              <a:t>  Early demos reduce risk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920240"/>
            <a:ext cx="3520440" cy="2743200"/>
          </a:xfrm>
          <a:prstGeom prst="roundRect">
            <a:avLst/>
          </a:prstGeom>
          <a:solidFill>
            <a:srgbClr val="12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01168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C9BB4"/>
                </a:solidFill>
                <a:latin typeface="Calibri"/>
              </a:defRPr>
            </a:pPr>
            <a:r>
              <a:t>Deployment &gt; Closure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69680" y="2377440"/>
            <a:ext cx="2057400" cy="365760"/>
          </a:xfrm>
          <a:prstGeom prst="roundRect">
            <a:avLst/>
          </a:prstGeom>
          <a:solidFill>
            <a:srgbClr val="E8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A0F1E"/>
                </a:solidFill>
                <a:latin typeface="Calibri"/>
              </a:defRPr>
            </a:pPr>
            <a:r>
              <a:t>WATERFALL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88036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39"/>
              </a:spcAft>
              <a:defRPr sz="1200" b="0">
                <a:solidFill>
                  <a:srgbClr val="C8D2E1"/>
                </a:solidFill>
                <a:latin typeface="Calibri"/>
              </a:defRPr>
            </a:pPr>
            <a:r>
              <a:t>  Irreversible go-live</a:t>
            </a:r>
          </a:p>
          <a:p>
            <a:pPr algn="l">
              <a:spcAft>
                <a:spcPts val="239"/>
              </a:spcAft>
              <a:defRPr sz="1200" b="0">
                <a:solidFill>
                  <a:srgbClr val="C8D2E1"/>
                </a:solidFill>
                <a:latin typeface="Calibri"/>
              </a:defRPr>
            </a:pPr>
            <a:r>
              <a:t>  Fixed training schedule</a:t>
            </a:r>
          </a:p>
          <a:p>
            <a:pPr algn="l">
              <a:spcAft>
                <a:spcPts val="239"/>
              </a:spcAft>
              <a:defRPr sz="1200" b="0">
                <a:solidFill>
                  <a:srgbClr val="C8D2E1"/>
                </a:solidFill>
                <a:latin typeface="Calibri"/>
              </a:defRPr>
            </a:pPr>
            <a:r>
              <a:t>  Formal sign-off required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846320"/>
            <a:ext cx="5486400" cy="1645920"/>
          </a:xfrm>
          <a:prstGeom prst="roundRect">
            <a:avLst/>
          </a:prstGeom>
          <a:solidFill>
            <a:srgbClr val="12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9377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5D5D"/>
                </a:solidFill>
                <a:latin typeface="Calibri"/>
              </a:defRPr>
            </a:pPr>
            <a:r>
              <a:t>Why NOT Pure Waterfall?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30352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19"/>
              </a:spcAft>
              <a:defRPr sz="1100" b="0">
                <a:solidFill>
                  <a:srgbClr val="C8D2E1"/>
                </a:solidFill>
                <a:latin typeface="Calibri"/>
              </a:defRPr>
            </a:pPr>
            <a:r>
              <a:t>&gt; Lecturers unavailable during semester</a:t>
            </a:r>
          </a:p>
          <a:p>
            <a:pPr algn="l">
              <a:spcAft>
                <a:spcPts val="219"/>
              </a:spcAft>
              <a:defRPr sz="1100" b="0">
                <a:solidFill>
                  <a:srgbClr val="C8D2E1"/>
                </a:solidFill>
                <a:latin typeface="Calibri"/>
              </a:defRPr>
            </a:pPr>
            <a:r>
              <a:t>&gt; Users resist change without early demos</a:t>
            </a:r>
          </a:p>
          <a:p>
            <a:pPr algn="l">
              <a:spcAft>
                <a:spcPts val="219"/>
              </a:spcAft>
              <a:defRPr sz="1100" b="0">
                <a:solidFill>
                  <a:srgbClr val="C8D2E1"/>
                </a:solidFill>
                <a:latin typeface="Calibri"/>
              </a:defRPr>
            </a:pPr>
            <a:r>
              <a:t>&gt; Requirements evolve after first review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4846320"/>
            <a:ext cx="5486400" cy="1645920"/>
          </a:xfrm>
          <a:prstGeom prst="roundRect">
            <a:avLst/>
          </a:prstGeom>
          <a:solidFill>
            <a:srgbClr val="12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49377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Calibri"/>
              </a:defRPr>
            </a:pPr>
            <a:r>
              <a:t>Why NOT Pure Agile?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530352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19"/>
              </a:spcAft>
              <a:defRPr sz="1100" b="0">
                <a:solidFill>
                  <a:srgbClr val="C8D2E1"/>
                </a:solidFill>
                <a:latin typeface="Calibri"/>
              </a:defRPr>
            </a:pPr>
            <a:r>
              <a:t>&gt; Fixed budget/deadline needs upfront planning</a:t>
            </a:r>
          </a:p>
          <a:p>
            <a:pPr algn="l">
              <a:spcAft>
                <a:spcPts val="219"/>
              </a:spcAft>
              <a:defRPr sz="1100" b="0">
                <a:solidFill>
                  <a:srgbClr val="C8D2E1"/>
                </a:solidFill>
                <a:latin typeface="Calibri"/>
              </a:defRPr>
            </a:pPr>
            <a:r>
              <a:t>&gt; ACMIS integration contract is fixed</a:t>
            </a:r>
          </a:p>
          <a:p>
            <a:pPr algn="l">
              <a:spcAft>
                <a:spcPts val="219"/>
              </a:spcAft>
              <a:defRPr sz="1100" b="0">
                <a:solidFill>
                  <a:srgbClr val="C8D2E1"/>
                </a:solidFill>
                <a:latin typeface="Calibri"/>
              </a:defRPr>
            </a:pPr>
            <a:r>
              <a:t>&gt; University procurement requires specs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C9BB4"/>
                </a:solidFill>
                <a:latin typeface="Calibri"/>
              </a:defRPr>
            </a:pPr>
            <a:r>
              <a:t>12/13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2011680" cy="292608"/>
          </a:xfrm>
          <a:prstGeom prst="roundRect">
            <a:avLst/>
          </a:prstGeom>
          <a:solidFill>
            <a:srgbClr val="009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5F7FA"/>
                </a:solidFill>
                <a:latin typeface="Calibri"/>
              </a:defRPr>
            </a:pPr>
            <a:r>
              <a:t>SECTION 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5F7FA"/>
                </a:solidFill>
                <a:latin typeface="Calibri"/>
              </a:defRPr>
            </a:pPr>
            <a:r>
              <a:t>Critical Success Factors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1828800" cy="38100"/>
          </a:xfrm>
          <a:prstGeom prst="rect">
            <a:avLst/>
          </a:prstGeom>
          <a:solidFill>
            <a:srgbClr val="00B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5394960" cy="1371600"/>
          </a:xfrm>
          <a:prstGeom prst="roundRect">
            <a:avLst/>
          </a:prstGeom>
          <a:solidFill>
            <a:srgbClr val="12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50800" cy="1371600"/>
          </a:xfrm>
          <a:prstGeom prst="rect">
            <a:avLst/>
          </a:prstGeom>
          <a:solidFill>
            <a:srgbClr val="00B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BCB4"/>
                </a:solidFill>
                <a:latin typeface="Calibri"/>
              </a:defRPr>
            </a:pPr>
            <a:r>
              <a:t>Executive Sponsorship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7744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D2E1"/>
                </a:solidFill>
                <a:latin typeface="Calibri"/>
              </a:defRPr>
            </a:pPr>
            <a:r>
              <a:t>Deputy Principal unblocks resources, resolves conflicts, signals importance to resistant staff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59" y="1920240"/>
            <a:ext cx="5394960" cy="1371600"/>
          </a:xfrm>
          <a:prstGeom prst="roundRect">
            <a:avLst/>
          </a:prstGeom>
          <a:solidFill>
            <a:srgbClr val="12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59" y="1920240"/>
            <a:ext cx="50800" cy="1371600"/>
          </a:xfrm>
          <a:prstGeom prst="rect">
            <a:avLst/>
          </a:prstGeom>
          <a:solidFill>
            <a:srgbClr val="52A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59" y="20116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52A8F7"/>
                </a:solidFill>
                <a:latin typeface="Calibri"/>
              </a:defRPr>
            </a:pPr>
            <a:r>
              <a:t>Early User Involvement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59" y="237744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D2E1"/>
                </a:solidFill>
                <a:latin typeface="Calibri"/>
              </a:defRPr>
            </a:pPr>
            <a:r>
              <a:t>Lecturers available intermittently; students validate UX; prevents 'built but unused'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429000"/>
            <a:ext cx="5394960" cy="1371600"/>
          </a:xfrm>
          <a:prstGeom prst="roundRect">
            <a:avLst/>
          </a:prstGeom>
          <a:solidFill>
            <a:srgbClr val="12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429000"/>
            <a:ext cx="50800" cy="13716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5204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4AF37"/>
                </a:solidFill>
                <a:latin typeface="Calibri"/>
              </a:defRPr>
            </a:pPr>
            <a:r>
              <a:t>Scope &amp; Change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88620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D2E1"/>
                </a:solidFill>
                <a:latin typeface="Calibri"/>
              </a:defRPr>
            </a:pPr>
            <a:r>
              <a:t>Fixed budget/deadline means scope creep = failure; MoSCoW + CCB essential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59" y="3429000"/>
            <a:ext cx="5394960" cy="1371600"/>
          </a:xfrm>
          <a:prstGeom prst="roundRect">
            <a:avLst/>
          </a:prstGeom>
          <a:solidFill>
            <a:srgbClr val="12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59" y="3429000"/>
            <a:ext cx="50800" cy="1371600"/>
          </a:xfrm>
          <a:prstGeom prst="rect">
            <a:avLst/>
          </a:prstGeom>
          <a:solidFill>
            <a:srgbClr val="48C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59" y="35204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8C78E"/>
                </a:solidFill>
                <a:latin typeface="Calibri"/>
              </a:defRPr>
            </a:pPr>
            <a:r>
              <a:t>ACMIS Integration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59" y="388620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D2E1"/>
                </a:solidFill>
                <a:latin typeface="Calibri"/>
              </a:defRPr>
            </a:pPr>
            <a:r>
              <a:t>Single source of truth for student data; failure = duplicate entry, errors, distrust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937760"/>
            <a:ext cx="5394960" cy="1371600"/>
          </a:xfrm>
          <a:prstGeom prst="roundRect">
            <a:avLst/>
          </a:prstGeom>
          <a:solidFill>
            <a:srgbClr val="12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4937760"/>
            <a:ext cx="50800" cy="1371600"/>
          </a:xfrm>
          <a:prstGeom prst="rect">
            <a:avLst/>
          </a:prstGeom>
          <a:solidFill>
            <a:srgbClr val="8B8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0292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8B80E8"/>
                </a:solidFill>
                <a:latin typeface="Calibri"/>
              </a:defRPr>
            </a:pPr>
            <a:r>
              <a:t>Training &amp; Change Mgmt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39496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D2E1"/>
                </a:solidFill>
                <a:latin typeface="Calibri"/>
              </a:defRPr>
            </a:pPr>
            <a:r>
              <a:t>Resistance is a named constraint; champions + workshops drive adoption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59" y="4937760"/>
            <a:ext cx="5394960" cy="1371600"/>
          </a:xfrm>
          <a:prstGeom prst="roundRect">
            <a:avLst/>
          </a:prstGeom>
          <a:solidFill>
            <a:srgbClr val="12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9359" y="4937760"/>
            <a:ext cx="50800" cy="1371600"/>
          </a:xfrm>
          <a:prstGeom prst="rect">
            <a:avLst/>
          </a:prstGeom>
          <a:solidFill>
            <a:srgbClr val="E8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59" y="50292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5D5D"/>
                </a:solidFill>
                <a:latin typeface="Calibri"/>
              </a:defRPr>
            </a:pPr>
            <a:r>
              <a:t>Skilled Core Team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59" y="539496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D2E1"/>
                </a:solidFill>
                <a:latin typeface="Calibri"/>
              </a:defRPr>
            </a:pPr>
            <a:r>
              <a:t>Communication kills velocity; dedicated devs + PM + QA = accountability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12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828800" y="623620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BCB4"/>
                </a:solidFill>
                <a:latin typeface="Calibri"/>
              </a:defRPr>
            </a:pPr>
            <a:r>
              <a:t>&gt; = 80%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0" y="6492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C9BB4"/>
                </a:solidFill>
                <a:latin typeface="Calibri"/>
              </a:defRPr>
            </a:pPr>
            <a:r>
              <a:t>User Adoption Target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0" y="623620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BCB4"/>
                </a:solidFill>
                <a:latin typeface="Calibri"/>
              </a:defRPr>
            </a:pPr>
            <a:r>
              <a:t>&lt; = 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46320" y="6492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C9BB4"/>
                </a:solidFill>
                <a:latin typeface="Calibri"/>
              </a:defRPr>
            </a:pPr>
            <a:r>
              <a:t>Months Duration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63840" y="623620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BCB4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6492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C9BB4"/>
                </a:solidFill>
                <a:latin typeface="Calibri"/>
              </a:defRPr>
            </a:pPr>
            <a:r>
              <a:t>Budget Compliance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C9BB4"/>
                </a:solidFill>
                <a:latin typeface="Calibri"/>
              </a:defRPr>
            </a:pPr>
            <a:r>
              <a:t>13/13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2011680" cy="292608"/>
          </a:xfrm>
          <a:prstGeom prst="roundRect">
            <a:avLst/>
          </a:prstGeom>
          <a:solidFill>
            <a:srgbClr val="009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5F7FA"/>
                </a:solidFill>
                <a:latin typeface="Calibri"/>
              </a:defRPr>
            </a:pPr>
            <a:r>
              <a:t>REFLECTION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5F7FA"/>
                </a:solidFill>
                <a:latin typeface="Calibri"/>
              </a:defRPr>
            </a:pPr>
            <a:r>
              <a:t>4-Month Delay: Response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1828800" cy="38100"/>
          </a:xfrm>
          <a:prstGeom prst="rect">
            <a:avLst/>
          </a:prstGeom>
          <a:solidFill>
            <a:srgbClr val="00B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5486400" cy="2286000"/>
          </a:xfrm>
          <a:prstGeom prst="roundRect">
            <a:avLst/>
          </a:prstGeom>
          <a:solidFill>
            <a:srgbClr val="12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5D5D"/>
                </a:solidFill>
                <a:latin typeface="Calibri"/>
              </a:defRPr>
            </a:pPr>
            <a:r>
              <a:t>Actions as Project Manager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7744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39"/>
              </a:spcAft>
              <a:defRPr sz="1200" b="0">
                <a:solidFill>
                  <a:srgbClr val="C8D2E1"/>
                </a:solidFill>
                <a:latin typeface="Calibri"/>
              </a:defRPr>
            </a:pPr>
            <a:r>
              <a:t>1. Emergency steering committee meeting</a:t>
            </a:r>
          </a:p>
          <a:p>
            <a:pPr algn="l">
              <a:spcAft>
                <a:spcPts val="239"/>
              </a:spcAft>
              <a:defRPr sz="1200" b="0">
                <a:solidFill>
                  <a:srgbClr val="C8D2E1"/>
                </a:solidFill>
                <a:latin typeface="Calibri"/>
              </a:defRPr>
            </a:pPr>
            <a:r>
              <a:t>2. Present impact assessment &amp; recovery options</a:t>
            </a:r>
          </a:p>
          <a:p>
            <a:pPr algn="l">
              <a:spcAft>
                <a:spcPts val="239"/>
              </a:spcAft>
              <a:defRPr sz="1200" b="0">
                <a:solidFill>
                  <a:srgbClr val="C8D2E1"/>
                </a:solidFill>
                <a:latin typeface="Calibri"/>
              </a:defRPr>
            </a:pPr>
            <a:r>
              <a:t>3. Re-baseline: crash or reduce scope to MVP</a:t>
            </a:r>
          </a:p>
          <a:p>
            <a:pPr algn="l">
              <a:spcAft>
                <a:spcPts val="239"/>
              </a:spcAft>
              <a:defRPr sz="1200" b="0">
                <a:solidFill>
                  <a:srgbClr val="C8D2E1"/>
                </a:solidFill>
                <a:latin typeface="Calibri"/>
              </a:defRPr>
            </a:pPr>
            <a:r>
              <a:t>4. Negotiate new deadline (Month 14)</a:t>
            </a:r>
          </a:p>
          <a:p>
            <a:pPr algn="l">
              <a:spcAft>
                <a:spcPts val="239"/>
              </a:spcAft>
              <a:defRPr sz="1200" b="0">
                <a:solidFill>
                  <a:srgbClr val="C8D2E1"/>
                </a:solidFill>
                <a:latin typeface="Calibri"/>
              </a:defRPr>
            </a:pPr>
            <a:r>
              <a:t>5. Formal root cause analysis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920240"/>
            <a:ext cx="5486400" cy="2286000"/>
          </a:xfrm>
          <a:prstGeom prst="roundRect">
            <a:avLst/>
          </a:prstGeom>
          <a:solidFill>
            <a:srgbClr val="12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0116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F37"/>
                </a:solidFill>
                <a:latin typeface="Calibri"/>
              </a:defRPr>
            </a:pPr>
            <a:r>
              <a:t>Affected Knowledge Areas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37744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39"/>
              </a:spcAft>
              <a:defRPr sz="1200" b="0">
                <a:solidFill>
                  <a:srgbClr val="C8D2E1"/>
                </a:solidFill>
                <a:latin typeface="Calibri"/>
              </a:defRPr>
            </a:pPr>
            <a:r>
              <a:t>&gt; Schedule Management - baseline broken</a:t>
            </a:r>
          </a:p>
          <a:p>
            <a:pPr algn="l">
              <a:spcAft>
                <a:spcPts val="239"/>
              </a:spcAft>
              <a:defRPr sz="1200" b="0">
                <a:solidFill>
                  <a:srgbClr val="C8D2E1"/>
                </a:solidFill>
                <a:latin typeface="Calibri"/>
              </a:defRPr>
            </a:pPr>
            <a:r>
              <a:t>&gt; Scope Management - reduction required</a:t>
            </a:r>
          </a:p>
          <a:p>
            <a:pPr algn="l">
              <a:spcAft>
                <a:spcPts val="239"/>
              </a:spcAft>
              <a:defRPr sz="1200" b="0">
                <a:solidFill>
                  <a:srgbClr val="C8D2E1"/>
                </a:solidFill>
                <a:latin typeface="Calibri"/>
              </a:defRPr>
            </a:pPr>
            <a:r>
              <a:t>&gt; Stakeholder Mgmt - trust damaged</a:t>
            </a:r>
          </a:p>
          <a:p>
            <a:pPr algn="l">
              <a:spcAft>
                <a:spcPts val="239"/>
              </a:spcAft>
              <a:defRPr sz="1200" b="0">
                <a:solidFill>
                  <a:srgbClr val="C8D2E1"/>
                </a:solidFill>
                <a:latin typeface="Calibri"/>
              </a:defRPr>
            </a:pPr>
            <a:r>
              <a:t>&gt; Communications - urgent updates needed</a:t>
            </a:r>
          </a:p>
          <a:p>
            <a:pPr algn="l">
              <a:spcAft>
                <a:spcPts val="239"/>
              </a:spcAft>
              <a:defRPr sz="1200" b="0">
                <a:solidFill>
                  <a:srgbClr val="C8D2E1"/>
                </a:solidFill>
                <a:latin typeface="Calibri"/>
              </a:defRPr>
            </a:pPr>
            <a:r>
              <a:t>&gt; Risk Mgmt - late requirements materialized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389120"/>
            <a:ext cx="5486400" cy="2103120"/>
          </a:xfrm>
          <a:prstGeom prst="roundRect">
            <a:avLst/>
          </a:prstGeom>
          <a:solidFill>
            <a:srgbClr val="12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4805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2A8F7"/>
                </a:solidFill>
                <a:latin typeface="Calibri"/>
              </a:defRPr>
            </a:pPr>
            <a:r>
              <a:t>Stakeholder Communication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84632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39"/>
              </a:spcAft>
              <a:defRPr sz="1200" b="0">
                <a:solidFill>
                  <a:srgbClr val="C8D2E1"/>
                </a:solidFill>
                <a:latin typeface="Calibri"/>
              </a:defRPr>
            </a:pPr>
            <a:r>
              <a:t>&gt; Sponsor: Face-to-face + formal memo (Day 1)</a:t>
            </a:r>
          </a:p>
          <a:p>
            <a:pPr algn="l">
              <a:spcAft>
                <a:spcPts val="239"/>
              </a:spcAft>
              <a:defRPr sz="1200" b="0">
                <a:solidFill>
                  <a:srgbClr val="C8D2E1"/>
                </a:solidFill>
                <a:latin typeface="Calibri"/>
              </a:defRPr>
            </a:pPr>
            <a:r>
              <a:t>&gt; Dept Heads: Email + meetings (Day 2)</a:t>
            </a:r>
          </a:p>
          <a:p>
            <a:pPr algn="l">
              <a:spcAft>
                <a:spcPts val="239"/>
              </a:spcAft>
              <a:defRPr sz="1200" b="0">
                <a:solidFill>
                  <a:srgbClr val="C8D2E1"/>
                </a:solidFill>
                <a:latin typeface="Calibri"/>
              </a:defRPr>
            </a:pPr>
            <a:r>
              <a:t>&gt; Students: Portal announcement (Day 3)</a:t>
            </a:r>
          </a:p>
          <a:p>
            <a:pPr algn="l">
              <a:spcAft>
                <a:spcPts val="239"/>
              </a:spcAft>
              <a:defRPr sz="1200" b="0">
                <a:solidFill>
                  <a:srgbClr val="C8D2E1"/>
                </a:solidFill>
                <a:latin typeface="Calibri"/>
              </a:defRPr>
            </a:pPr>
            <a:r>
              <a:t>&gt; Dev Team: Stand-up + revised plan (Day 1)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4389120"/>
            <a:ext cx="5486400" cy="2103120"/>
          </a:xfrm>
          <a:prstGeom prst="roundRect">
            <a:avLst/>
          </a:prstGeom>
          <a:solidFill>
            <a:srgbClr val="12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44805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8C78E"/>
                </a:solidFill>
                <a:latin typeface="Calibri"/>
              </a:defRPr>
            </a:pPr>
            <a:r>
              <a:t>Lessons for Future Projects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484632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39"/>
              </a:spcAft>
              <a:defRPr sz="1200" b="0">
                <a:solidFill>
                  <a:srgbClr val="C8D2E1"/>
                </a:solidFill>
                <a:latin typeface="Calibri"/>
              </a:defRPr>
            </a:pPr>
            <a:r>
              <a:t>&gt; Lock requirements before semester</a:t>
            </a:r>
          </a:p>
          <a:p>
            <a:pPr algn="l">
              <a:spcAft>
                <a:spcPts val="239"/>
              </a:spcAft>
              <a:defRPr sz="1200" b="0">
                <a:solidFill>
                  <a:srgbClr val="C8D2E1"/>
                </a:solidFill>
                <a:latin typeface="Calibri"/>
              </a:defRPr>
            </a:pPr>
            <a:r>
              <a:t>&gt; MoUs with dependency owners</a:t>
            </a:r>
          </a:p>
          <a:p>
            <a:pPr algn="l">
              <a:spcAft>
                <a:spcPts val="239"/>
              </a:spcAft>
              <a:defRPr sz="1200" b="0">
                <a:solidFill>
                  <a:srgbClr val="C8D2E1"/>
                </a:solidFill>
                <a:latin typeface="Calibri"/>
              </a:defRPr>
            </a:pPr>
            <a:r>
              <a:t>&gt; Contingency for academic calendar</a:t>
            </a:r>
          </a:p>
          <a:p>
            <a:pPr algn="l">
              <a:spcAft>
                <a:spcPts val="239"/>
              </a:spcAft>
              <a:defRPr sz="1200" b="0">
                <a:solidFill>
                  <a:srgbClr val="C8D2E1"/>
                </a:solidFill>
                <a:latin typeface="Calibri"/>
              </a:defRPr>
            </a:pPr>
            <a:r>
              <a:t>&gt; Proxy user representatives</a:t>
            </a:r>
          </a:p>
          <a:p>
            <a:pPr algn="l">
              <a:spcAft>
                <a:spcPts val="239"/>
              </a:spcAft>
              <a:defRPr sz="1200" b="0">
                <a:solidFill>
                  <a:srgbClr val="C8D2E1"/>
                </a:solidFill>
                <a:latin typeface="Calibri"/>
              </a:defRPr>
            </a:pPr>
            <a:r>
              <a:t>&gt; Pilot with 1 department first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C9BB4"/>
                </a:solidFill>
                <a:latin typeface="Calibri"/>
              </a:defRPr>
            </a:pPr>
            <a:r>
              <a:t>14/14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2011680" cy="292608"/>
          </a:xfrm>
          <a:prstGeom prst="roundRect">
            <a:avLst/>
          </a:prstGeom>
          <a:solidFill>
            <a:srgbClr val="009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5F7FA"/>
                </a:solidFill>
                <a:latin typeface="Calibri"/>
              </a:defRPr>
            </a:pPr>
            <a:r>
              <a:t>SECTION 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5F7FA"/>
                </a:solidFill>
                <a:latin typeface="Calibri"/>
              </a:defRPr>
            </a:pPr>
            <a:r>
              <a:t>Triple Constraint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1828800" cy="38100"/>
          </a:xfrm>
          <a:prstGeom prst="rect">
            <a:avLst/>
          </a:prstGeom>
          <a:solidFill>
            <a:srgbClr val="00B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3520440" cy="2011680"/>
          </a:xfrm>
          <a:prstGeom prst="roundRect">
            <a:avLst/>
          </a:prstGeom>
          <a:solidFill>
            <a:srgbClr val="12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3520440" cy="50800"/>
          </a:xfrm>
          <a:prstGeom prst="rect">
            <a:avLst/>
          </a:prstGeom>
          <a:solidFill>
            <a:srgbClr val="52A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52A8F7"/>
                </a:solidFill>
                <a:latin typeface="Calibri"/>
              </a:defRPr>
            </a:pPr>
            <a:r>
              <a:t>Scope &gt; Cost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3154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D2E1"/>
                </a:solidFill>
                <a:latin typeface="Calibri"/>
              </a:defRPr>
            </a:pPr>
            <a:r>
              <a:t>Adding 'mobile app' (+UGX 80M) exceeds budget. Requires additional funding or descoping.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920240"/>
            <a:ext cx="3520440" cy="2011680"/>
          </a:xfrm>
          <a:prstGeom prst="roundRect">
            <a:avLst/>
          </a:prstGeom>
          <a:solidFill>
            <a:srgbClr val="12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920240"/>
            <a:ext cx="3520440" cy="50800"/>
          </a:xfrm>
          <a:prstGeom prst="rect">
            <a:avLst/>
          </a:prstGeom>
          <a:solidFill>
            <a:srgbClr val="48C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210312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8C78E"/>
                </a:solidFill>
                <a:latin typeface="Calibri"/>
              </a:defRPr>
            </a:pPr>
            <a:r>
              <a:t>Scope &gt;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560320"/>
            <a:ext cx="3154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D2E1"/>
                </a:solidFill>
                <a:latin typeface="Calibri"/>
              </a:defRPr>
            </a:pPr>
            <a:r>
              <a:t>Adding 'plagiarism checker' pushes timeline 6 weeks. Misses academic year deadline.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920240"/>
            <a:ext cx="3520440" cy="2011680"/>
          </a:xfrm>
          <a:prstGeom prst="roundRect">
            <a:avLst/>
          </a:prstGeom>
          <a:solidFill>
            <a:srgbClr val="12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920240"/>
            <a:ext cx="3520440" cy="50800"/>
          </a:xfrm>
          <a:prstGeom prst="rect">
            <a:avLst/>
          </a:prstGeom>
          <a:solidFill>
            <a:srgbClr val="E8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210312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85D5D"/>
                </a:solidFill>
                <a:latin typeface="Calibri"/>
              </a:defRPr>
            </a:pPr>
            <a:r>
              <a:t>Scope &gt; Quality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560320"/>
            <a:ext cx="3154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D2E1"/>
                </a:solidFill>
                <a:latin typeface="Calibri"/>
              </a:defRPr>
            </a:pPr>
            <a:r>
              <a:t>Fixed time/budget + more scope = rushed testing. Data breach risk. Poor UX = low adoption.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28800" y="4206240"/>
            <a:ext cx="8503920" cy="1097280"/>
          </a:xfrm>
          <a:prstGeom prst="roundRect">
            <a:avLst/>
          </a:prstGeom>
          <a:solidFill>
            <a:srgbClr val="12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0" y="4297680"/>
            <a:ext cx="7955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4AF37"/>
                </a:solidFill>
                <a:latin typeface="Calibri"/>
              </a:defRPr>
            </a:pPr>
            <a:r>
              <a:t>Trade-off Triangle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4663440"/>
            <a:ext cx="7955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8D2E1"/>
                </a:solidFill>
                <a:latin typeface="Calibri"/>
              </a:defRPr>
            </a:pPr>
            <a:r>
              <a:t>Fixed Time (10 months) + Fixed Cost (UGX 450M)  =&gt;  Scope must be controlled via Change Control Board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5486400"/>
            <a:ext cx="12191695" cy="1371600"/>
          </a:xfrm>
          <a:prstGeom prst="rect">
            <a:avLst/>
          </a:prstGeom>
          <a:solidFill>
            <a:srgbClr val="12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6692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5F7FA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0" y="6263640"/>
            <a:ext cx="2103120" cy="38100"/>
          </a:xfrm>
          <a:prstGeom prst="rect">
            <a:avLst/>
          </a:prstGeom>
          <a:solidFill>
            <a:srgbClr val="00B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64008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C9BB4"/>
                </a:solidFill>
                <a:latin typeface="Calibri"/>
              </a:defRPr>
            </a:pPr>
            <a:r>
              <a:t>Thank you for your attention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C9BB4"/>
                </a:solidFill>
                <a:latin typeface="Calibri"/>
              </a:defRPr>
            </a:pPr>
            <a:r>
              <a:t>15/15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